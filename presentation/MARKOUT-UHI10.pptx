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5faa909082428d" /><Relationship Type="http://schemas.openxmlformats.org/officeDocument/2006/relationships/extended-properties" Target="/docProps/app.xml" Id="R459caf57911c4fde" /><Relationship Type="http://schemas.openxmlformats.org/officeDocument/2006/relationships/officeDocument" Target="/ppt/presentation.xml" Id="R1293f285823142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3b536124a34973"/>
  </p:sldMasterIdLst>
  <p:notesMasterIdLst>
    <p:notesMasterId xmlns:r="http://schemas.openxmlformats.org/officeDocument/2006/relationships" r:id="R8fc93491428b49d9"/>
  </p:notesMasterIdLst>
  <p:sldIdLst>
    <p:sldId xmlns:r="http://schemas.openxmlformats.org/officeDocument/2006/relationships" id="256" r:id="R7da0b829390d4b62"/>
    <p:sldId xmlns:r="http://schemas.openxmlformats.org/officeDocument/2006/relationships" id="257" r:id="R32757f94d5674615"/>
    <p:sldId xmlns:r="http://schemas.openxmlformats.org/officeDocument/2006/relationships" id="258" r:id="R62855139cd7e477b"/>
    <p:sldId xmlns:r="http://schemas.openxmlformats.org/officeDocument/2006/relationships" id="259" r:id="Re98caebb693448a5"/>
    <p:sldId xmlns:r="http://schemas.openxmlformats.org/officeDocument/2006/relationships" id="260" r:id="R9f6e608e7ef041b6"/>
    <p:sldId xmlns:r="http://schemas.openxmlformats.org/officeDocument/2006/relationships" id="261" r:id="R1bdbb950b65b4ebe"/>
    <p:sldId xmlns:r="http://schemas.openxmlformats.org/officeDocument/2006/relationships" id="262" r:id="Rf9b3480dca14428b"/>
    <p:sldId xmlns:r="http://schemas.openxmlformats.org/officeDocument/2006/relationships" id="263" r:id="Re379b66f049d4f45"/>
    <p:sldId xmlns:r="http://schemas.openxmlformats.org/officeDocument/2006/relationships" id="264" r:id="R4552a1e1d5fa46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d89a6b7c234402" /><Relationship Type="http://schemas.openxmlformats.org/officeDocument/2006/relationships/slideMaster" Target="/ppt/slideMasters/slideMaster1.xml" Id="R863b536124a34973" /><Relationship Type="http://schemas.openxmlformats.org/officeDocument/2006/relationships/notesMaster" Target="/ppt/notesMasters/notesMaster1.xml" Id="R8fc93491428b49d9" /><Relationship Type="http://schemas.openxmlformats.org/officeDocument/2006/relationships/presProps" Target="/ppt/presProps.xml" Id="R596380a43e5a42d6" /><Relationship Type="http://schemas.openxmlformats.org/officeDocument/2006/relationships/tableStyles" Target="/ppt/tableStyles.xml" Id="R6e264745d76e4a18" /><Relationship Type="http://schemas.openxmlformats.org/officeDocument/2006/relationships/slide" Target="/ppt/slides/slide1.xml" Id="R7da0b829390d4b62" /><Relationship Type="http://schemas.openxmlformats.org/officeDocument/2006/relationships/slide" Target="/ppt/slides/slide2.xml" Id="R32757f94d5674615" /><Relationship Type="http://schemas.openxmlformats.org/officeDocument/2006/relationships/slide" Target="/ppt/slides/slide3.xml" Id="R62855139cd7e477b" /><Relationship Type="http://schemas.openxmlformats.org/officeDocument/2006/relationships/slide" Target="/ppt/slides/slide4.xml" Id="Re98caebb693448a5" /><Relationship Type="http://schemas.openxmlformats.org/officeDocument/2006/relationships/slide" Target="/ppt/slides/slide5.xml" Id="R9f6e608e7ef041b6" /><Relationship Type="http://schemas.openxmlformats.org/officeDocument/2006/relationships/slide" Target="/ppt/slides/slide6.xml" Id="R1bdbb950b65b4ebe" /><Relationship Type="http://schemas.openxmlformats.org/officeDocument/2006/relationships/slide" Target="/ppt/slides/slide7.xml" Id="Rf9b3480dca14428b" /><Relationship Type="http://schemas.openxmlformats.org/officeDocument/2006/relationships/slide" Target="/ppt/slides/slide8.xml" Id="Re379b66f049d4f45" /><Relationship Type="http://schemas.openxmlformats.org/officeDocument/2006/relationships/slide" Target="/ppt/slides/slide9.xml" Id="R4552a1e1d5fa46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4225ef4be14f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e73535d1d94aaf" /><Relationship Type="http://schemas.openxmlformats.org/officeDocument/2006/relationships/notesMaster" Target="/ppt/notesMasters/notesMaster1.xml" Id="Rec4a8a88cd3241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7bbcc8a6ed4634" /><Relationship Type="http://schemas.openxmlformats.org/officeDocument/2006/relationships/notesMaster" Target="/ppt/notesMasters/notesMaster1.xml" Id="R056a098690e74e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5ab898dbcc4729" /><Relationship Type="http://schemas.openxmlformats.org/officeDocument/2006/relationships/notesMaster" Target="/ppt/notesMasters/notesMaster1.xml" Id="Rfd44a362911d43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0d820638a747d8" /><Relationship Type="http://schemas.openxmlformats.org/officeDocument/2006/relationships/notesMaster" Target="/ppt/notesMasters/notesMaster1.xml" Id="R46a9e47ccaf94e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681f31c160492d" /><Relationship Type="http://schemas.openxmlformats.org/officeDocument/2006/relationships/notesMaster" Target="/ppt/notesMasters/notesMaster1.xml" Id="R3bbc23bbb4cf4f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1928fabe17409f" /><Relationship Type="http://schemas.openxmlformats.org/officeDocument/2006/relationships/notesMaster" Target="/ppt/notesMasters/notesMaster1.xml" Id="R5fb02a16a6f544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59a7f5913d4cd6" /><Relationship Type="http://schemas.openxmlformats.org/officeDocument/2006/relationships/notesMaster" Target="/ppt/notesMasters/notesMaster1.xml" Id="R99490f4798b54a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2ccaadb7984ea2" /><Relationship Type="http://schemas.openxmlformats.org/officeDocument/2006/relationships/notesMaster" Target="/ppt/notesMasters/notesMaster1.xml" Id="R3b3fec829af541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151d7a81d84ab8" /><Relationship Type="http://schemas.openxmlformats.org/officeDocument/2006/relationships/notesMaster" Target="/ppt/notesMasters/notesMaster1.xml" Id="Rd6ae367b102b4b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question: can an AMM wait for the outcome before deciding how much protection to retain?</a:t>
            </a:r>
          </a:p>
          <a:p xmlns:a="http://schemas.openxmlformats.org/drawingml/2006/main">
            <a:r>
              <a:t>Frame Reactive as a lightweight optional accelerator; Circle is the primary authenticated settlement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web/public/og.png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volatility is useful but cannot attribute information content to an individual realized trade.</a:t>
            </a:r>
          </a:p>
          <a:p xmlns:a="http://schemas.openxmlformats.org/drawingml/2006/main">
            <a:r>
              <a:t>MARKOUT does not predict intent or blacklist a trader; it observes a directional price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experiments/README.md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the publisher verifies Pyth, and the hook still applies the frozen curve after authenticated delivery.</a:t>
            </a:r>
          </a:p>
          <a:p xmlns:a="http://schemas.openxmlformats.org/drawingml/2006/main">
            <a:r>
              <a:t>Emphasize conservation and the fail-open expiry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informed bar first: MARKOUT retains the most only where the markout is adverse.</a:t>
            </a:r>
          </a:p>
          <a:p xmlns:a="http://schemas.openxmlformats.org/drawingml/2006/main">
            <a:r>
              <a:t>Then compare benign and inventory-improving flow against the volatility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experiments/charts/effective_fee_by_flow.svg</a:t>
            </a:r>
          </a:p>
          <a:p xmlns:a="http://schemas.openxmlformats.org/drawingml/2006/main">
            <a:r>
              <a:t>- experiments/results/flow_summary.csv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policy receives the same seeded 768-trade tape, so the comparison isolates fee allocation.</a:t>
            </a:r>
          </a:p>
          <a:p xmlns:a="http://schemas.openxmlformats.org/drawingml/2006/main">
            <a:r>
              <a:t>State the regression clearly: the volatility baseline earns more overall because it charges benign and inventory-improving flow more.</a:t>
            </a:r>
          </a:p>
          <a:p xmlns:a="http://schemas.openxmlformats.org/drawingml/2006/main">
            <a:r>
              <a:t>The proxy is not exact LVR or individual LP PnL.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experiments/charts/lp_net_after_proxy.svg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https://arxiv.org/abs/2208.06046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chart to the hook invariant: pending, claimable, and reserve balances always reconcile with held assets.</a:t>
            </a:r>
          </a:p>
          <a:p xmlns:a="http://schemas.openxmlformats.org/drawingml/2006/main">
            <a:r>
              <a:t>The 63 invalid observations are not forced into LP protection; they fail open to a full rebate.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experiments/charts/markout_rebate_and_protection.svg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Circle carries the Pyth-verified observation as the primary authenticated message path.</a:t>
            </a:r>
          </a:p>
          <a:p xmlns:a="http://schemas.openxmlformats.org/drawingml/2006/main">
            <a:r>
              <a:t>The stateless Reactive pulse can mirror the same event, while the coordinator makes duplicate delivery harmless.</a:t>
            </a:r>
          </a:p>
          <a:p xmlns:a="http://schemas.openxmlformats.org/drawingml/2006/main">
            <a:r>
              <a:t>The hook retains custody, maturity checks, economic validation, settlement, and permissionless expiry.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- docs/THREAT_MODEL.md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cumulative gate includes adversarial authorization, reentrancy, expiry, oracle failure, replay, transport races, and insolvency cases.</a:t>
            </a:r>
          </a:p>
          <a:p xmlns:a="http://schemas.openxmlformats.org/drawingml/2006/main">
            <a:r>
              <a:t>Keep the boundary explicit: this is production-shaped and internally hardened, not independently audited.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docs/PHASE_7_VERIFICATION.md</a:t>
            </a:r>
          </a:p>
          <a:p xmlns:a="http://schemas.openxmlformats.org/drawingml/2006/main">
            <a:r>
              <a:t>- docs/PHASE_11_VERIFICATION.md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- docs/STATIC_ANALYSIS.md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opening: MARKOUT does not need to predict intent before execution; it settles what the post-trade outcome supports.</a:t>
            </a:r>
          </a:p>
          <a:p xmlns:a="http://schemas.openxmlformats.org/drawingml/2006/main">
            <a:r>
              <a:t>Public proof: the final Ethereum Sepolia publisher block timestamp was 1787307432 and the Unichain settlement block timestamp was 1787307470, a 38-second source-to-destination latency.</a:t>
            </a:r>
          </a:p>
          <a:p xmlns:a="http://schemas.openxmlformats.org/drawingml/2006/main">
            <a:r>
              <a:t>The Pyth observation timestamp was 1787307424, so the hook accepted it at 46 seconds of age, within the configured 120-second maximum.</a:t>
            </a:r>
          </a:p>
          <a:p xmlns:a="http://schemas.openxmlformats.org/drawingml/2006/main">
            <a:r>
              <a:t>The trade escrowed 622 USDC base units; negative markout allocated 0 to LP protection and all 622 to the trader rebate, which was claimed publicly.</a:t>
            </a:r>
          </a:p>
          <a:p xmlns:a="http://schemas.openxmlformats.org/drawingml/2006/main">
            <a:r>
              <a:t>Reactive remains optional: its legacy pulse is deployed and subscribed, but no successful public Unichain callback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deployments/hybrid-2026-08-21.json</a:t>
            </a:r>
          </a:p>
          <a:p xmlns:a="http://schemas.openxmlformats.org/drawingml/2006/main">
            <a:r>
              <a:t>- https://sepolia.etherscan.io/tx/0xed6af5c42e554c221078110d6db03fba8fd74bf24a88cf52494d4e605a31f6ca</a:t>
            </a:r>
          </a:p>
          <a:p xmlns:a="http://schemas.openxmlformats.org/drawingml/2006/main">
            <a:r>
              <a:t>- https://sepolia.uniscan.xyz/tx/0xa64789b5a08ea8aae8c2b909b6a81b495334b707eaae12610bf3749902ec532f</a:t>
            </a:r>
          </a:p>
          <a:p xmlns:a="http://schemas.openxmlformats.org/drawingml/2006/main">
            <a:r>
              <a:t>- https://sepolia.uniscan.xyz/tx/0xa6ded637a8c9651f252e302f7cedec2969d637f733777f7f2ad71ac700d64630</a:t>
            </a:r>
          </a:p>
          <a:p xmlns:a="http://schemas.openxmlformats.org/drawingml/2006/main">
            <a:r>
              <a:t>- https://developers.circle.com/cctp/concepts/finality-and-block-confirmations</a:t>
            </a:r>
          </a:p>
          <a:p xmlns:a="http://schemas.openxmlformats.org/drawingml/2006/main">
            <a:r>
              <a:t>- https://docs.pyth.network/price-feeds/core/fetch-price-updates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f021dd65b74c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8f261a89b74848" /><Relationship Type="http://schemas.openxmlformats.org/officeDocument/2006/relationships/slideLayout" Target="/ppt/slideLayouts/slideLayout1.xml" Id="Rcff1689a31e442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f1689a31e442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9d986a81946ae" /><Relationship Type="http://schemas.openxmlformats.org/officeDocument/2006/relationships/image" Target="/ppt/media/image.png" Id="R75b8923ce8444e94" /><Relationship Type="http://schemas.openxmlformats.org/officeDocument/2006/relationships/notesSlide" Target="/ppt/notesSlides/notesSlide1.xml" Id="Rf1ca1669854843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165567e1e45af" /><Relationship Type="http://schemas.openxmlformats.org/officeDocument/2006/relationships/notesSlide" Target="/ppt/notesSlides/notesSlide2.xml" Id="R11137846531b4b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770d7a8264d6e" /><Relationship Type="http://schemas.openxmlformats.org/officeDocument/2006/relationships/notesSlide" Target="/ppt/notesSlides/notesSlide3.xml" Id="R7a2f80a1456b48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7ab777c4f4b20" /><Relationship Type="http://schemas.openxmlformats.org/officeDocument/2006/relationships/image" Target="/ppt/media/image2.png" Id="Rc1e3ce76d71c4eea" /><Relationship Type="http://schemas.openxmlformats.org/officeDocument/2006/relationships/notesSlide" Target="/ppt/notesSlides/notesSlide4.xml" Id="Rb972492f43084c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392cdaa14408f" /><Relationship Type="http://schemas.openxmlformats.org/officeDocument/2006/relationships/image" Target="/ppt/media/image3.png" Id="R4dae6ca4e6dc4655" /><Relationship Type="http://schemas.openxmlformats.org/officeDocument/2006/relationships/notesSlide" Target="/ppt/notesSlides/notesSlide5.xml" Id="R3f5d86f467394f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006c286914b86" /><Relationship Type="http://schemas.openxmlformats.org/officeDocument/2006/relationships/image" Target="/ppt/media/image4.png" Id="R5199a60674b84d59" /><Relationship Type="http://schemas.openxmlformats.org/officeDocument/2006/relationships/notesSlide" Target="/ppt/notesSlides/notesSlide6.xml" Id="R646eefa00ccc4f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74d9aa89b4b91" /><Relationship Type="http://schemas.openxmlformats.org/officeDocument/2006/relationships/notesSlide" Target="/ppt/notesSlides/notesSlide7.xml" Id="Rc3ca5f0c08ed40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6cfc62c814ce8" /><Relationship Type="http://schemas.openxmlformats.org/officeDocument/2006/relationships/notesSlide" Target="/ppt/notesSlides/notesSlide8.xml" Id="Rf6d42438f1124a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b19f26ea2421e" /><Relationship Type="http://schemas.openxmlformats.org/officeDocument/2006/relationships/notesSlide" Target="/ppt/notesSlides/notesSlide9.xml" Id="R3fa759823b4d4f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8923ce8444e94"/>
          <a:stretch xmlns:a="http://schemas.openxmlformats.org/drawingml/2006/main"/>
        </p:blipFill>
        <p:spPr>
          <a:xfrm xmlns:a="http://schemas.openxmlformats.org/drawingml/2006/main">
            <a:off x="0" y="228600"/>
            <a:ext cx="12192000" cy="6400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5271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2">
            <a:extLst xmlns:a="http://schemas.openxmlformats.org/drawingml/2006/main">
              <a:ext uri="{FF2B5EF4-FFF2-40B4-BE49-F238E27FC236}">
                <a16:creationId xmlns:a16="http://schemas.microsoft.com/office/drawing/2014/main" id="{D2B1870E-0096-4B4A-9E19-8B4BC2AB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THE GAP</a:t>
            </a:r>
          </a:p>
        </p:txBody>
      </p:sp>
      <p:sp>
        <p:nvSpPr>
          <p:cNvPr id="2" name="footer-2">
            <a:extLst xmlns:a="http://schemas.openxmlformats.org/drawingml/2006/main">
              <a:ext uri="{FF2B5EF4-FFF2-40B4-BE49-F238E27FC236}">
                <a16:creationId xmlns:a16="http://schemas.microsoft.com/office/drawing/2014/main" id="{1090B1E3-EB85-46DD-BB9F-C8EAE340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2 / 9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B2D4EE01-FE0C-461B-97C2-D959BC5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9D3CE18-2C7D-4F3C-AB84-8D060D59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Volatility sees risk. It does not see who caused it.</a:t>
            </a:r>
          </a:p>
        </p:txBody>
      </p:sp>
      <p:sp>
        <p:nvSpPr>
          <p:cNvPr id="5" name="volatility-label">
            <a:extLst xmlns:a="http://schemas.openxmlformats.org/drawingml/2006/main">
              <a:ext uri="{FF2B5EF4-FFF2-40B4-BE49-F238E27FC236}">
                <a16:creationId xmlns:a16="http://schemas.microsoft.com/office/drawing/2014/main" id="{9041FBBC-1ED0-4F52-B5DF-9B2FD932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9E0B"/>
                </a:solidFill>
              </a:defRPr>
            </a:pPr>
            <a:r>
              <a:rPr sz="1275" b="1">
                <a:solidFill>
                  <a:srgbClr val="F59E0B"/>
                </a:solidFill>
              </a:rPr>
              <a:t>VOLATILITY FEE</a:t>
            </a:r>
          </a:p>
        </p:txBody>
      </p:sp>
      <p:sp>
        <p:nvSpPr>
          <p:cNvPr id="6" name="volatility-equation">
            <a:extLst xmlns:a="http://schemas.openxmlformats.org/drawingml/2006/main">
              <a:ext uri="{FF2B5EF4-FFF2-40B4-BE49-F238E27FC236}">
                <a16:creationId xmlns:a16="http://schemas.microsoft.com/office/drawing/2014/main" id="{F8C1EF9C-BA55-4D1F-8CAC-EADE6F8A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f(market state)</a:t>
            </a:r>
          </a:p>
        </p:txBody>
      </p:sp>
      <p:sp>
        <p:nvSpPr>
          <p:cNvPr id="7" name="volatility-body">
            <a:extLst xmlns:a="http://schemas.openxmlformats.org/drawingml/2006/main">
              <a:ext uri="{FF2B5EF4-FFF2-40B4-BE49-F238E27FC236}">
                <a16:creationId xmlns:a16="http://schemas.microsoft.com/office/drawing/2014/main" id="{97F6F05A-342B-4711-9479-C8DFB851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Benign, informed, and inventory-improving flow can all pay more together.</a:t>
            </a:r>
          </a:p>
        </p:txBody>
      </p:sp>
      <p:sp>
        <p:nvSpPr>
          <p:cNvPr id="8" name="not-equal">
            <a:extLst xmlns:a="http://schemas.openxmlformats.org/drawingml/2006/main">
              <a:ext uri="{FF2B5EF4-FFF2-40B4-BE49-F238E27FC236}">
                <a16:creationId xmlns:a16="http://schemas.microsoft.com/office/drawing/2014/main" id="{7C4ACB42-53E0-4AB5-9209-C7301A12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67000"/>
            <a:ext cx="1066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34414B"/>
                </a:solidFill>
              </a:defRPr>
            </a:pPr>
            <a:r>
              <a:rPr sz="4800" b="1">
                <a:solidFill>
                  <a:srgbClr val="34414B"/>
                </a:solidFill>
              </a:rPr>
              <a:t>≠</a:t>
            </a:r>
          </a:p>
        </p:txBody>
      </p:sp>
      <p:sp>
        <p:nvSpPr>
          <p:cNvPr id="9" name="markout-label">
            <a:extLst xmlns:a="http://schemas.openxmlformats.org/drawingml/2006/main">
              <a:ext uri="{FF2B5EF4-FFF2-40B4-BE49-F238E27FC236}">
                <a16:creationId xmlns:a16="http://schemas.microsoft.com/office/drawing/2014/main" id="{DD1C7131-1A2E-450C-BF5C-F58F7E6A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MARKOUT</a:t>
            </a:r>
          </a:p>
        </p:txBody>
      </p:sp>
      <p:sp>
        <p:nvSpPr>
          <p:cNvPr id="10" name="markout-equation">
            <a:extLst xmlns:a="http://schemas.openxmlformats.org/drawingml/2006/main">
              <a:ext uri="{FF2B5EF4-FFF2-40B4-BE49-F238E27FC236}">
                <a16:creationId xmlns:a16="http://schemas.microsoft.com/office/drawing/2014/main" id="{44D10FA1-605A-4614-BFEA-65693B2A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f(realized outcome)</a:t>
            </a:r>
          </a:p>
        </p:txBody>
      </p:sp>
      <p:sp>
        <p:nvSpPr>
          <p:cNvPr id="11" name="markout-body">
            <a:extLst xmlns:a="http://schemas.openxmlformats.org/drawingml/2006/main">
              <a:ext uri="{FF2B5EF4-FFF2-40B4-BE49-F238E27FC236}">
                <a16:creationId xmlns:a16="http://schemas.microsoft.com/office/drawing/2014/main" id="{1A0D12D6-CAEE-4D93-9707-A824CF91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The final allocation follows directional post-trade evidence—not wallet identity.</a:t>
            </a:r>
          </a:p>
        </p:txBody>
      </p:sp>
      <p:sp>
        <p:nvSpPr>
          <p:cNvPr id="12" name="slide-2-accent">
            <a:extLst xmlns:a="http://schemas.openxmlformats.org/drawingml/2006/main">
              <a:ext uri="{FF2B5EF4-FFF2-40B4-BE49-F238E27FC236}">
                <a16:creationId xmlns:a16="http://schemas.microsoft.com/office/drawing/2014/main" id="{F5E1F5FF-E286-4150-8B95-A80191F5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3" name="slide-2-close">
            <a:extLst xmlns:a="http://schemas.openxmlformats.org/drawingml/2006/main">
              <a:ext uri="{FF2B5EF4-FFF2-40B4-BE49-F238E27FC236}">
                <a16:creationId xmlns:a16="http://schemas.microsoft.com/office/drawing/2014/main" id="{F900E6FC-8DBB-4A14-BD67-431EACA2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00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Classify the outcome, then settle the protection.</a:t>
            </a:r>
          </a:p>
        </p:txBody>
      </p:sp>
    </p:spTree>
    <p:extLst>
      <p:ext uri="{BB962C8B-B14F-4D97-AF65-F5344CB8AC3E}">
        <p14:creationId xmlns:p14="http://schemas.microsoft.com/office/powerpoint/2010/main" val="1335080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9CCDC7BA-092C-4B0F-8B85-460A8623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MECHANISM</a:t>
            </a:r>
          </a:p>
        </p:txBody>
      </p:sp>
      <p:sp>
        <p:nvSpPr>
          <p:cNvPr id="2" name="footer-3">
            <a:extLst xmlns:a="http://schemas.openxmlformats.org/drawingml/2006/main">
              <a:ext uri="{FF2B5EF4-FFF2-40B4-BE49-F238E27FC236}">
                <a16:creationId xmlns:a16="http://schemas.microsoft.com/office/drawing/2014/main" id="{EB5A8531-DDA4-4BF4-BE28-24CB2AA3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3 / 9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723E011-5025-457B-97FA-04C6D247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BE9E8C8C-A3ED-48EF-89DF-F0D7A7F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prices flow after it reveals itself.</a:t>
            </a:r>
          </a:p>
        </p:txBody>
      </p:sp>
      <p:sp>
        <p:nvSpPr>
          <p:cNvPr id="5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7D3B8119-7463-4F5A-8AFB-1BDBCE3F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A bounded provisional surcharge becomes either trader rebate or LP protection.</a:t>
            </a:r>
          </a:p>
        </p:txBody>
      </p:sp>
      <p:sp>
        <p:nvSpPr>
          <p:cNvPr id="6" name="mechanism-node-1">
            <a:extLst xmlns:a="http://schemas.openxmlformats.org/drawingml/2006/main">
              <a:ext uri="{FF2B5EF4-FFF2-40B4-BE49-F238E27FC236}">
                <a16:creationId xmlns:a16="http://schemas.microsoft.com/office/drawing/2014/main" id="{9042057C-744D-470F-949D-9B938B25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mechanism-index-1">
            <a:extLst xmlns:a="http://schemas.openxmlformats.org/drawingml/2006/main">
              <a:ext uri="{FF2B5EF4-FFF2-40B4-BE49-F238E27FC236}">
                <a16:creationId xmlns:a16="http://schemas.microsoft.com/office/drawing/2014/main" id="{70EDDBF5-BE68-4DDB-BC1E-BAD5BD23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1</a:t>
            </a:r>
          </a:p>
        </p:txBody>
      </p:sp>
      <p:sp>
        <p:nvSpPr>
          <p:cNvPr id="8" name="mechanism-label-1">
            <a:extLst xmlns:a="http://schemas.openxmlformats.org/drawingml/2006/main">
              <a:ext uri="{FF2B5EF4-FFF2-40B4-BE49-F238E27FC236}">
                <a16:creationId xmlns:a16="http://schemas.microsoft.com/office/drawing/2014/main" id="{CF0A5C51-8F50-4831-9DF2-B3A75039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EXECUTE</a:t>
            </a:r>
          </a:p>
        </p:txBody>
      </p:sp>
      <p:sp>
        <p:nvSpPr>
          <p:cNvPr id="9" name="mechanism-body-1">
            <a:extLst xmlns:a="http://schemas.openxmlformats.org/drawingml/2006/main">
              <a:ext uri="{FF2B5EF4-FFF2-40B4-BE49-F238E27FC236}">
                <a16:creationId xmlns:a16="http://schemas.microsoft.com/office/drawing/2014/main" id="{0D92CFD0-92B1-4402-A35E-0D8050F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v4 swap collects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a bounded surcharge</a:t>
            </a:r>
          </a:p>
        </p:txBody>
      </p:sp>
      <p:sp>
        <p:nvSpPr>
          <p:cNvPr id="10" name="mechanism-node-2">
            <a:extLst xmlns:a="http://schemas.openxmlformats.org/drawingml/2006/main">
              <a:ext uri="{FF2B5EF4-FFF2-40B4-BE49-F238E27FC236}">
                <a16:creationId xmlns:a16="http://schemas.microsoft.com/office/drawing/2014/main" id="{0FA66BC1-BF04-4D6F-A838-4A07B464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1" name="mechanism-index-2">
            <a:extLst xmlns:a="http://schemas.openxmlformats.org/drawingml/2006/main">
              <a:ext uri="{FF2B5EF4-FFF2-40B4-BE49-F238E27FC236}">
                <a16:creationId xmlns:a16="http://schemas.microsoft.com/office/drawing/2014/main" id="{789B9BB6-B941-4B5C-899D-4ED8D35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2</a:t>
            </a:r>
          </a:p>
        </p:txBody>
      </p:sp>
      <p:sp>
        <p:nvSpPr>
          <p:cNvPr id="12" name="mechanism-label-2">
            <a:extLst xmlns:a="http://schemas.openxmlformats.org/drawingml/2006/main">
              <a:ext uri="{FF2B5EF4-FFF2-40B4-BE49-F238E27FC236}">
                <a16:creationId xmlns:a16="http://schemas.microsoft.com/office/drawing/2014/main" id="{FBC4D72C-B0A6-41C9-AEFD-EBC7F33E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WAIT</a:t>
            </a:r>
          </a:p>
        </p:txBody>
      </p:sp>
      <p:sp>
        <p:nvSpPr>
          <p:cNvPr id="13" name="mechanism-body-2">
            <a:extLst xmlns:a="http://schemas.openxmlformats.org/drawingml/2006/main">
              <a:ext uri="{FF2B5EF4-FFF2-40B4-BE49-F238E27FC236}">
                <a16:creationId xmlns:a16="http://schemas.microsoft.com/office/drawing/2014/main" id="{FD6C40C8-C621-4F20-B8FC-D2C5E1D8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five-minute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maturity window</a:t>
            </a:r>
          </a:p>
        </p:txBody>
      </p:sp>
      <p:sp>
        <p:nvSpPr>
          <p:cNvPr id="14" name="mechanism-node-3">
            <a:extLst xmlns:a="http://schemas.openxmlformats.org/drawingml/2006/main">
              <a:ext uri="{FF2B5EF4-FFF2-40B4-BE49-F238E27FC236}">
                <a16:creationId xmlns:a16="http://schemas.microsoft.com/office/drawing/2014/main" id="{62271572-6AF7-45EF-A209-B2414FD7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5" name="mechanism-index-3">
            <a:extLst xmlns:a="http://schemas.openxmlformats.org/drawingml/2006/main">
              <a:ext uri="{FF2B5EF4-FFF2-40B4-BE49-F238E27FC236}">
                <a16:creationId xmlns:a16="http://schemas.microsoft.com/office/drawing/2014/main" id="{9A06B4AD-8FF1-499B-BFEC-DC253647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3</a:t>
            </a:r>
          </a:p>
        </p:txBody>
      </p:sp>
      <p:sp>
        <p:nvSpPr>
          <p:cNvPr id="16" name="mechanism-label-3">
            <a:extLst xmlns:a="http://schemas.openxmlformats.org/drawingml/2006/main">
              <a:ext uri="{FF2B5EF4-FFF2-40B4-BE49-F238E27FC236}">
                <a16:creationId xmlns:a16="http://schemas.microsoft.com/office/drawing/2014/main" id="{5F819087-DDED-4B72-9525-3D1228E6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OBSERVE</a:t>
            </a:r>
          </a:p>
        </p:txBody>
      </p:sp>
      <p:sp>
        <p:nvSpPr>
          <p:cNvPr id="17" name="mechanism-body-3">
            <a:extLst xmlns:a="http://schemas.openxmlformats.org/drawingml/2006/main">
              <a:ext uri="{FF2B5EF4-FFF2-40B4-BE49-F238E27FC236}">
                <a16:creationId xmlns:a16="http://schemas.microsoft.com/office/drawing/2014/main" id="{500D8A11-FC11-460C-810F-6A3D40A9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Pyth-verified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price observation</a:t>
            </a:r>
          </a:p>
        </p:txBody>
      </p:sp>
      <p:sp>
        <p:nvSpPr>
          <p:cNvPr id="18" name="mechanism-node-4">
            <a:extLst xmlns:a="http://schemas.openxmlformats.org/drawingml/2006/main">
              <a:ext uri="{FF2B5EF4-FFF2-40B4-BE49-F238E27FC236}">
                <a16:creationId xmlns:a16="http://schemas.microsoft.com/office/drawing/2014/main" id="{1A9C931B-8D56-4C47-AACE-B2EC5E4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9" name="mechanism-index-4">
            <a:extLst xmlns:a="http://schemas.openxmlformats.org/drawingml/2006/main">
              <a:ext uri="{FF2B5EF4-FFF2-40B4-BE49-F238E27FC236}">
                <a16:creationId xmlns:a16="http://schemas.microsoft.com/office/drawing/2014/main" id="{2BE70219-5A9E-4EA4-B21A-03F7A9F2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4</a:t>
            </a:r>
          </a:p>
        </p:txBody>
      </p:sp>
      <p:sp>
        <p:nvSpPr>
          <p:cNvPr id="20" name="mechanism-label-4">
            <a:extLst xmlns:a="http://schemas.openxmlformats.org/drawingml/2006/main">
              <a:ext uri="{FF2B5EF4-FFF2-40B4-BE49-F238E27FC236}">
                <a16:creationId xmlns:a16="http://schemas.microsoft.com/office/drawing/2014/main" id="{BD279390-A88F-4806-8493-5084C30F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SETTLE</a:t>
            </a:r>
          </a:p>
        </p:txBody>
      </p:sp>
      <p:sp>
        <p:nvSpPr>
          <p:cNvPr id="21" name="mechanism-body-4">
            <a:extLst xmlns:a="http://schemas.openxmlformats.org/drawingml/2006/main">
              <a:ext uri="{FF2B5EF4-FFF2-40B4-BE49-F238E27FC236}">
                <a16:creationId xmlns:a16="http://schemas.microsoft.com/office/drawing/2014/main" id="{398B9CD6-8DBD-427B-ADF5-6499252C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bounded markout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retention curve</a:t>
            </a:r>
          </a:p>
        </p:txBody>
      </p:sp>
      <p:sp>
        <p:nvSpPr>
          <p:cNvPr id="22" name="mechanism-node-5">
            <a:extLst xmlns:a="http://schemas.openxmlformats.org/drawingml/2006/main">
              <a:ext uri="{FF2B5EF4-FFF2-40B4-BE49-F238E27FC236}">
                <a16:creationId xmlns:a16="http://schemas.microsoft.com/office/drawing/2014/main" id="{20F4E424-93F1-40D8-A5A9-BC1AF735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23" name="mechanism-index-5">
            <a:extLst xmlns:a="http://schemas.openxmlformats.org/drawingml/2006/main">
              <a:ext uri="{FF2B5EF4-FFF2-40B4-BE49-F238E27FC236}">
                <a16:creationId xmlns:a16="http://schemas.microsoft.com/office/drawing/2014/main" id="{91012C94-476D-48F0-BF09-6C29ACC1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5</a:t>
            </a:r>
          </a:p>
        </p:txBody>
      </p:sp>
      <p:sp>
        <p:nvSpPr>
          <p:cNvPr id="24" name="mechanism-label-5">
            <a:extLst xmlns:a="http://schemas.openxmlformats.org/drawingml/2006/main">
              <a:ext uri="{FF2B5EF4-FFF2-40B4-BE49-F238E27FC236}">
                <a16:creationId xmlns:a16="http://schemas.microsoft.com/office/drawing/2014/main" id="{47870143-190E-4603-8B0E-B2C701AD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ALLOCATE</a:t>
            </a:r>
          </a:p>
        </p:txBody>
      </p:sp>
      <p:sp>
        <p:nvSpPr>
          <p:cNvPr id="25" name="mechanism-body-5">
            <a:extLst xmlns:a="http://schemas.openxmlformats.org/drawingml/2006/main">
              <a:ext uri="{FF2B5EF4-FFF2-40B4-BE49-F238E27FC236}">
                <a16:creationId xmlns:a16="http://schemas.microsoft.com/office/drawing/2014/main" id="{7E29B7A7-C830-4B99-B080-44C6DE09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rebate + reserve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conserve escrow</a:t>
            </a:r>
          </a:p>
        </p:txBody>
      </p:sp>
      <p:cxnSp>
        <p:nvCxnSpPr>
          <p:cNvPr id="230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527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231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7434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232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9342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233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1249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30" name="slide-3-fail-open">
            <a:extLst xmlns:a="http://schemas.openxmlformats.org/drawingml/2006/main">
              <a:ext uri="{FF2B5EF4-FFF2-40B4-BE49-F238E27FC236}">
                <a16:creationId xmlns:a16="http://schemas.microsoft.com/office/drawing/2014/main" id="{0EE6C47D-563D-4972-9D0A-EEAC83E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No valid observation by expiry → full provisional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16730372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-4">
            <a:extLst xmlns:a="http://schemas.openxmlformats.org/drawingml/2006/main">
              <a:ext uri="{FF2B5EF4-FFF2-40B4-BE49-F238E27FC236}">
                <a16:creationId xmlns:a16="http://schemas.microsoft.com/office/drawing/2014/main" id="{E6516E21-DD29-4DD4-A95C-BABF9056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DISCRIMINATION</a:t>
            </a:r>
          </a:p>
        </p:txBody>
      </p:sp>
      <p:sp>
        <p:nvSpPr>
          <p:cNvPr id="2" name="footer-4">
            <a:extLst xmlns:a="http://schemas.openxmlformats.org/drawingml/2006/main">
              <a:ext uri="{FF2B5EF4-FFF2-40B4-BE49-F238E27FC236}">
                <a16:creationId xmlns:a16="http://schemas.microsoft.com/office/drawing/2014/main" id="{3D9ABBA8-CDCB-469A-926D-F353A73C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4 / 9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5D8B499-DEBF-4194-9589-8812EF6D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68951C2-8534-4E80-A367-EDD4B9F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charges information—not the whole market.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3ce76d71c4eea"/>
          <a:stretch xmlns:a="http://schemas.openxmlformats.org/drawingml/2006/main"/>
        </p:blipFill>
        <p:spPr>
          <a:xfrm xmlns:a="http://schemas.openxmlformats.org/drawingml/2006/main">
            <a:off x="2611694" y="1857375"/>
            <a:ext cx="6968613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slide-4-callout">
            <a:extLst xmlns:a="http://schemas.openxmlformats.org/drawingml/2006/main">
              <a:ext uri="{FF2B5EF4-FFF2-40B4-BE49-F238E27FC236}">
                <a16:creationId xmlns:a16="http://schemas.microsoft.com/office/drawing/2014/main" id="{44EB9238-ABB2-4578-BDF1-BF1DF77D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73.06 bps informed · 39.43 bps benign · 30.00 bps inventory-improving</a:t>
            </a:r>
          </a:p>
        </p:txBody>
      </p:sp>
    </p:spTree>
    <p:extLst>
      <p:ext uri="{BB962C8B-B14F-4D97-AF65-F5344CB8AC3E}">
        <p14:creationId xmlns:p14="http://schemas.microsoft.com/office/powerpoint/2010/main" val="1129235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5">
            <a:extLst xmlns:a="http://schemas.openxmlformats.org/drawingml/2006/main">
              <a:ext uri="{FF2B5EF4-FFF2-40B4-BE49-F238E27FC236}">
                <a16:creationId xmlns:a16="http://schemas.microsoft.com/office/drawing/2014/main" id="{7EFEA686-BF40-4936-8234-C6ECEF18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EVIDENCE</a:t>
            </a:r>
          </a:p>
        </p:txBody>
      </p:sp>
      <p:sp>
        <p:nvSpPr>
          <p:cNvPr id="2" name="footer-5">
            <a:extLst xmlns:a="http://schemas.openxmlformats.org/drawingml/2006/main">
              <a:ext uri="{FF2B5EF4-FFF2-40B4-BE49-F238E27FC236}">
                <a16:creationId xmlns:a16="http://schemas.microsoft.com/office/drawing/2014/main" id="{C0297821-4CC5-4BBF-8E42-A0C6DA50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5 / 9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C9A307D-3F41-4016-B39F-AE45BA1C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6F2F603-5E0D-40EB-BDAC-2AAEA0B9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experiment supports a tradeoff, not a miracle.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e6ca4e6dc4655"/>
          <a:stretch xmlns:a="http://schemas.openxmlformats.org/drawingml/2006/main"/>
        </p:blipFill>
        <p:spPr>
          <a:xfrm xmlns:a="http://schemas.openxmlformats.org/drawingml/2006/main">
            <a:off x="637560" y="1333500"/>
            <a:ext cx="7964129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vs-fixed-value">
            <a:extLst xmlns:a="http://schemas.openxmlformats.org/drawingml/2006/main">
              <a:ext uri="{FF2B5EF4-FFF2-40B4-BE49-F238E27FC236}">
                <a16:creationId xmlns:a16="http://schemas.microsoft.com/office/drawing/2014/main" id="{8B0FB59A-4EC2-49D2-AFB2-B44A8E61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8AFFAD"/>
                </a:solidFill>
              </a:defRPr>
            </a:pPr>
            <a:r>
              <a:rPr sz="3150" b="1">
                <a:solidFill>
                  <a:srgbClr val="8AFFAD"/>
                </a:solidFill>
              </a:rPr>
              <a:t>+$3,249.79</a:t>
            </a:r>
          </a:p>
        </p:txBody>
      </p:sp>
      <p:sp>
        <p:nvSpPr>
          <p:cNvPr id="7" name="vs-fixed-label">
            <a:extLst xmlns:a="http://schemas.openxmlformats.org/drawingml/2006/main">
              <a:ext uri="{FF2B5EF4-FFF2-40B4-BE49-F238E27FC236}">
                <a16:creationId xmlns:a16="http://schemas.microsoft.com/office/drawing/2014/main" id="{C26B03CB-AAA7-491A-8DF4-E0011947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LP net after proxy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fixed fee</a:t>
            </a:r>
          </a:p>
        </p:txBody>
      </p:sp>
      <p:sp>
        <p:nvSpPr>
          <p:cNvPr id="8" name="vs-volatility-value">
            <a:extLst xmlns:a="http://schemas.openxmlformats.org/drawingml/2006/main">
              <a:ext uri="{FF2B5EF4-FFF2-40B4-BE49-F238E27FC236}">
                <a16:creationId xmlns:a16="http://schemas.microsoft.com/office/drawing/2014/main" id="{F751CEB4-8459-4680-A19C-235E5929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576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59E0B"/>
                </a:solidFill>
              </a:defRPr>
            </a:pPr>
            <a:r>
              <a:rPr sz="3150" b="1">
                <a:solidFill>
                  <a:srgbClr val="F59E0B"/>
                </a:solidFill>
              </a:rPr>
              <a:t>−$454.75</a:t>
            </a:r>
          </a:p>
        </p:txBody>
      </p:sp>
      <p:sp>
        <p:nvSpPr>
          <p:cNvPr id="9" name="vs-volatility-label">
            <a:extLst xmlns:a="http://schemas.openxmlformats.org/drawingml/2006/main">
              <a:ext uri="{FF2B5EF4-FFF2-40B4-BE49-F238E27FC236}">
                <a16:creationId xmlns:a16="http://schemas.microsoft.com/office/drawing/2014/main" id="{CF63E797-B814-424B-A9D6-D42D564D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volatility fee;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good flow pays less</a:t>
            </a:r>
          </a:p>
        </p:txBody>
      </p:sp>
    </p:spTree>
    <p:extLst>
      <p:ext uri="{BB962C8B-B14F-4D97-AF65-F5344CB8AC3E}">
        <p14:creationId xmlns:p14="http://schemas.microsoft.com/office/powerpoint/2010/main" val="90168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-6">
            <a:extLst xmlns:a="http://schemas.openxmlformats.org/drawingml/2006/main">
              <a:ext uri="{FF2B5EF4-FFF2-40B4-BE49-F238E27FC236}">
                <a16:creationId xmlns:a16="http://schemas.microsoft.com/office/drawing/2014/main" id="{2FC4CBFF-C793-4766-84F3-2C35D395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ACCOUNTING</a:t>
            </a:r>
          </a:p>
        </p:txBody>
      </p:sp>
      <p:sp>
        <p:nvSpPr>
          <p:cNvPr id="2" name="footer-6">
            <a:extLst xmlns:a="http://schemas.openxmlformats.org/drawingml/2006/main">
              <a:ext uri="{FF2B5EF4-FFF2-40B4-BE49-F238E27FC236}">
                <a16:creationId xmlns:a16="http://schemas.microsoft.com/office/drawing/2014/main" id="{17E43B93-2076-4F8D-A76A-136821E3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6 / 9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7B9848-523D-4977-9B76-A7EEACF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E98815ED-C47D-49D3-8363-0E969148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Every provisional dollar ends in a named bucket.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9a60674b84d59"/>
          <a:stretch xmlns:a="http://schemas.openxmlformats.org/drawingml/2006/main"/>
        </p:blipFill>
        <p:spPr>
          <a:xfrm xmlns:a="http://schemas.openxmlformats.org/drawingml/2006/main">
            <a:off x="523875" y="1391267"/>
            <a:ext cx="7762875" cy="4456465"/>
          </a:xfrm>
          <a:prstGeom xmlns:a="http://schemas.openxmlformats.org/drawingml/2006/main" prst="rect">
            <a:avLst/>
          </a:prstGeom>
        </p:spPr>
      </p:pic>
      <p:sp>
        <p:nvSpPr>
          <p:cNvPr id="6" name="rebates-value">
            <a:extLst xmlns:a="http://schemas.openxmlformats.org/drawingml/2006/main">
              <a:ext uri="{FF2B5EF4-FFF2-40B4-BE49-F238E27FC236}">
                <a16:creationId xmlns:a16="http://schemas.microsoft.com/office/drawing/2014/main" id="{0E71CF41-D346-4800-BB32-A8CB4F36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62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41D47A"/>
                </a:solidFill>
              </a:defRPr>
            </a:pPr>
            <a:r>
              <a:rPr sz="3600" b="1">
                <a:solidFill>
                  <a:srgbClr val="41D47A"/>
                </a:solidFill>
              </a:rPr>
              <a:t>$6,746.61</a:t>
            </a:r>
          </a:p>
        </p:txBody>
      </p:sp>
      <p:sp>
        <p:nvSpPr>
          <p:cNvPr id="7" name="rebates-label">
            <a:extLst xmlns:a="http://schemas.openxmlformats.org/drawingml/2006/main">
              <a:ext uri="{FF2B5EF4-FFF2-40B4-BE49-F238E27FC236}">
                <a16:creationId xmlns:a16="http://schemas.microsoft.com/office/drawing/2014/main" id="{D8E068AF-1406-46A6-942F-831234E0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47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returned to traders</a:t>
            </a:r>
          </a:p>
        </p:txBody>
      </p:sp>
      <p:sp>
        <p:nvSpPr>
          <p:cNvPr id="8" name="reserve-value">
            <a:extLst xmlns:a="http://schemas.openxmlformats.org/drawingml/2006/main">
              <a:ext uri="{FF2B5EF4-FFF2-40B4-BE49-F238E27FC236}">
                <a16:creationId xmlns:a16="http://schemas.microsoft.com/office/drawing/2014/main" id="{B597259C-D089-49BF-94E7-9AFC7D03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EC4899"/>
                </a:solidFill>
              </a:defRPr>
            </a:pPr>
            <a:r>
              <a:rPr sz="3600" b="1">
                <a:solidFill>
                  <a:srgbClr val="EC4899"/>
                </a:solidFill>
              </a:rPr>
              <a:t>$3,249.79</a:t>
            </a:r>
          </a:p>
        </p:txBody>
      </p:sp>
      <p:sp>
        <p:nvSpPr>
          <p:cNvPr id="9" name="reserve-label">
            <a:extLst xmlns:a="http://schemas.openxmlformats.org/drawingml/2006/main">
              <a:ext uri="{FF2B5EF4-FFF2-40B4-BE49-F238E27FC236}">
                <a16:creationId xmlns:a16="http://schemas.microsoft.com/office/drawing/2014/main" id="{389F57A8-9A03-452F-9ABE-6AA8EA5B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71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credited to LP protection</a:t>
            </a:r>
          </a:p>
        </p:txBody>
      </p:sp>
      <p:sp>
        <p:nvSpPr>
          <p:cNvPr id="10" name="expiry-value">
            <a:extLst xmlns:a="http://schemas.openxmlformats.org/drawingml/2006/main">
              <a:ext uri="{FF2B5EF4-FFF2-40B4-BE49-F238E27FC236}">
                <a16:creationId xmlns:a16="http://schemas.microsoft.com/office/drawing/2014/main" id="{7D57EE9A-5777-4C7C-9078-B28403C6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810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1E8"/>
                </a:solidFill>
              </a:defRPr>
            </a:pPr>
            <a:r>
              <a:rPr sz="3600" b="1">
                <a:solidFill>
                  <a:srgbClr val="F4F1E8"/>
                </a:solidFill>
              </a:rPr>
              <a:t>63</a:t>
            </a:r>
          </a:p>
        </p:txBody>
      </p:sp>
      <p:sp>
        <p:nvSpPr>
          <p:cNvPr id="11" name="expiry-label">
            <a:extLst xmlns:a="http://schemas.openxmlformats.org/drawingml/2006/main">
              <a:ext uri="{FF2B5EF4-FFF2-40B4-BE49-F238E27FC236}">
                <a16:creationId xmlns:a16="http://schemas.microsoft.com/office/drawing/2014/main" id="{655BDB60-E232-45D8-B9D6-D306AA6B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495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invalid references expire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with full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606456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7">
            <a:extLst xmlns:a="http://schemas.openxmlformats.org/drawingml/2006/main">
              <a:ext uri="{FF2B5EF4-FFF2-40B4-BE49-F238E27FC236}">
                <a16:creationId xmlns:a16="http://schemas.microsoft.com/office/drawing/2014/main" id="{66F7C44A-B107-4670-ACC1-A73A9D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AUTONOMY</a:t>
            </a:r>
          </a:p>
        </p:txBody>
      </p:sp>
      <p:sp>
        <p:nvSpPr>
          <p:cNvPr id="2" name="footer-7">
            <a:extLst xmlns:a="http://schemas.openxmlformats.org/drawingml/2006/main">
              <a:ext uri="{FF2B5EF4-FFF2-40B4-BE49-F238E27FC236}">
                <a16:creationId xmlns:a16="http://schemas.microsoft.com/office/drawing/2014/main" id="{D48938B5-E411-40A8-BDDD-59F43C51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7 / 9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A073FB9C-9C88-49A1-B820-37F2D4BA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6720FEC3-B62C-4725-8E0F-960DB655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Two transport paths; one immutable settlement boundary.</a:t>
            </a:r>
          </a:p>
        </p:txBody>
      </p:sp>
      <p:sp>
        <p:nvSpPr>
          <p:cNvPr id="5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6B6D307D-88FF-4FFD-AA08-3B5C7F6F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Circle is primary. Reactive is optional. The hook alone owns custody and final accounting.</a:t>
            </a:r>
          </a:p>
        </p:txBody>
      </p:sp>
      <p:sp>
        <p:nvSpPr>
          <p:cNvPr id="6" name="origin-boundary">
            <a:extLst xmlns:a="http://schemas.openxmlformats.org/drawingml/2006/main">
              <a:ext uri="{FF2B5EF4-FFF2-40B4-BE49-F238E27FC236}">
                <a16:creationId xmlns:a16="http://schemas.microsoft.com/office/drawing/2014/main" id="{2EA9B362-B6B5-4F74-A6F7-D3E74982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reactive-boundary">
            <a:extLst xmlns:a="http://schemas.openxmlformats.org/drawingml/2006/main">
              <a:ext uri="{FF2B5EF4-FFF2-40B4-BE49-F238E27FC236}">
                <a16:creationId xmlns:a16="http://schemas.microsoft.com/office/drawing/2014/main" id="{9E437601-B3DB-4D0D-A833-F6A42D56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8" name="destination-boundary">
            <a:extLst xmlns:a="http://schemas.openxmlformats.org/drawingml/2006/main">
              <a:ext uri="{FF2B5EF4-FFF2-40B4-BE49-F238E27FC236}">
                <a16:creationId xmlns:a16="http://schemas.microsoft.com/office/drawing/2014/main" id="{300620D3-79A0-41DF-AC61-91627959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cxnSp>
        <p:nvCxnSpPr>
          <p:cNvPr id="8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19550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8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67625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11" name="origin-title">
            <a:extLst xmlns:a="http://schemas.openxmlformats.org/drawingml/2006/main">
              <a:ext uri="{FF2B5EF4-FFF2-40B4-BE49-F238E27FC236}">
                <a16:creationId xmlns:a16="http://schemas.microsoft.com/office/drawing/2014/main" id="{5706F5C7-8574-4918-BE0A-FF696914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UNISWAP v4</a:t>
            </a:r>
          </a:p>
        </p:txBody>
      </p:sp>
      <p:sp>
        <p:nvSpPr>
          <p:cNvPr id="12" name="origin-body">
            <a:extLst xmlns:a="http://schemas.openxmlformats.org/drawingml/2006/main">
              <a:ext uri="{FF2B5EF4-FFF2-40B4-BE49-F238E27FC236}">
                <a16:creationId xmlns:a16="http://schemas.microsoft.com/office/drawing/2014/main" id="{5F1D3AA2-2D39-4254-AC23-B56D58B0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Escrow surcharge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Create pending trade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Emit MarkoutRequested</a:t>
            </a:r>
          </a:p>
        </p:txBody>
      </p:sp>
      <p:sp>
        <p:nvSpPr>
          <p:cNvPr id="13" name="reactive-title">
            <a:extLst xmlns:a="http://schemas.openxmlformats.org/drawingml/2006/main">
              <a:ext uri="{FF2B5EF4-FFF2-40B4-BE49-F238E27FC236}">
                <a16:creationId xmlns:a16="http://schemas.microsoft.com/office/drawing/2014/main" id="{456F835E-1873-4FF0-8156-A86642F6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8AFFAD"/>
                </a:solidFill>
              </a:defRPr>
            </a:pPr>
            <a:r>
              <a:rPr sz="1725" b="1">
                <a:solidFill>
                  <a:srgbClr val="8AFFAD"/>
                </a:solidFill>
              </a:rPr>
              <a:t>TRANSPORTS</a:t>
            </a:r>
          </a:p>
        </p:txBody>
      </p:sp>
      <p:sp>
        <p:nvSpPr>
          <p:cNvPr id="14" name="reactive-body">
            <a:extLst xmlns:a="http://schemas.openxmlformats.org/drawingml/2006/main">
              <a:ext uri="{FF2B5EF4-FFF2-40B4-BE49-F238E27FC236}">
                <a16:creationId xmlns:a16="http://schemas.microsoft.com/office/drawing/2014/main" id="{1652FCC6-DEBF-4441-971E-16D572B1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Pyth verifies price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Circle carries primary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Reactive mirrors event</a:t>
            </a:r>
          </a:p>
        </p:txBody>
      </p:sp>
      <p:sp>
        <p:nvSpPr>
          <p:cNvPr id="15" name="destination-title">
            <a:extLst xmlns:a="http://schemas.openxmlformats.org/drawingml/2006/main">
              <a:ext uri="{FF2B5EF4-FFF2-40B4-BE49-F238E27FC236}">
                <a16:creationId xmlns:a16="http://schemas.microsoft.com/office/drawing/2014/main" id="{F44B3302-7732-4FCB-B819-DE0DF4F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COORDINATOR</a:t>
            </a:r>
          </a:p>
        </p:txBody>
      </p:sp>
      <p:sp>
        <p:nvSpPr>
          <p:cNvPr id="16" name="destination-body">
            <a:extLst xmlns:a="http://schemas.openxmlformats.org/drawingml/2006/main">
              <a:ext uri="{FF2B5EF4-FFF2-40B4-BE49-F238E27FC236}">
                <a16:creationId xmlns:a16="http://schemas.microsoft.com/office/drawing/2014/main" id="{6F62BBAC-07BB-4222-A711-58EC89A8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Authenticate sources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First valid delivery wins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Hook settles or expires</a:t>
            </a:r>
          </a:p>
        </p:txBody>
      </p:sp>
      <p:sp>
        <p:nvSpPr>
          <p:cNvPr id="17" name="slide-7-close">
            <a:extLst xmlns:a="http://schemas.openxmlformats.org/drawingml/2006/main">
              <a:ext uri="{FF2B5EF4-FFF2-40B4-BE49-F238E27FC236}">
                <a16:creationId xmlns:a16="http://schemas.microsoft.com/office/drawing/2014/main" id="{8249B4A1-360A-46EA-9535-28E7527C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At-least-once delivery. Exactly-once economics.</a:t>
            </a:r>
          </a:p>
        </p:txBody>
      </p:sp>
    </p:spTree>
    <p:extLst>
      <p:ext uri="{BB962C8B-B14F-4D97-AF65-F5344CB8AC3E}">
        <p14:creationId xmlns:p14="http://schemas.microsoft.com/office/powerpoint/2010/main" val="1901801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-8">
            <a:extLst xmlns:a="http://schemas.openxmlformats.org/drawingml/2006/main">
              <a:ext uri="{FF2B5EF4-FFF2-40B4-BE49-F238E27FC236}">
                <a16:creationId xmlns:a16="http://schemas.microsoft.com/office/drawing/2014/main" id="{6CB0B761-5A05-492F-AFC5-06A43F2F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PROOF</a:t>
            </a:r>
          </a:p>
        </p:txBody>
      </p:sp>
      <p:sp>
        <p:nvSpPr>
          <p:cNvPr id="2" name="footer-8">
            <a:extLst xmlns:a="http://schemas.openxmlformats.org/drawingml/2006/main">
              <a:ext uri="{FF2B5EF4-FFF2-40B4-BE49-F238E27FC236}">
                <a16:creationId xmlns:a16="http://schemas.microsoft.com/office/drawing/2014/main" id="{52110BE6-3D4C-4A78-AF70-790F89B2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8 / 9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9E3781E1-09DD-44F6-9FFB-E3E16790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1DA3A37-CA35-47C1-98E8-27D466E9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prototype is hardened where it matters most.</a:t>
            </a:r>
          </a:p>
        </p:txBody>
      </p:sp>
      <p:sp>
        <p:nvSpPr>
          <p:cNvPr id="5" name="metric-line">
            <a:extLst xmlns:a="http://schemas.openxmlformats.org/drawingml/2006/main">
              <a:ext uri="{FF2B5EF4-FFF2-40B4-BE49-F238E27FC236}">
                <a16:creationId xmlns:a16="http://schemas.microsoft.com/office/drawing/2014/main" id="{22A93793-8A69-4C43-9177-C6B823FD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14B"/>
            </a:solidFill>
            <a:prstDash val="solid"/>
          </a:ln>
        </p:spPr>
      </p:sp>
      <p:sp>
        <p:nvSpPr>
          <p:cNvPr id="6" name="proof-value-1">
            <a:extLst xmlns:a="http://schemas.openxmlformats.org/drawingml/2006/main">
              <a:ext uri="{FF2B5EF4-FFF2-40B4-BE49-F238E27FC236}">
                <a16:creationId xmlns:a16="http://schemas.microsoft.com/office/drawing/2014/main" id="{7AD3A3A9-62C3-4DCA-B828-6F4D9B1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186</a:t>
            </a:r>
          </a:p>
        </p:txBody>
      </p:sp>
      <p:sp>
        <p:nvSpPr>
          <p:cNvPr id="7" name="proof-label-1">
            <a:extLst xmlns:a="http://schemas.openxmlformats.org/drawingml/2006/main">
              <a:ext uri="{FF2B5EF4-FFF2-40B4-BE49-F238E27FC236}">
                <a16:creationId xmlns:a16="http://schemas.microsoft.com/office/drawing/2014/main" id="{1B656049-F534-4437-BFEA-0FB22AA4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deterministic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Solidity tests</a:t>
            </a:r>
          </a:p>
        </p:txBody>
      </p:sp>
      <p:sp>
        <p:nvSpPr>
          <p:cNvPr id="8" name="proof-value-2">
            <a:extLst xmlns:a="http://schemas.openxmlformats.org/drawingml/2006/main">
              <a:ext uri="{FF2B5EF4-FFF2-40B4-BE49-F238E27FC236}">
                <a16:creationId xmlns:a16="http://schemas.microsoft.com/office/drawing/2014/main" id="{D467C700-9EEC-40CD-8BF6-E9CD22A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12</a:t>
            </a:r>
          </a:p>
        </p:txBody>
      </p:sp>
      <p:sp>
        <p:nvSpPr>
          <p:cNvPr id="9" name="proof-label-2">
            <a:extLst xmlns:a="http://schemas.openxmlformats.org/drawingml/2006/main">
              <a:ext uri="{FF2B5EF4-FFF2-40B4-BE49-F238E27FC236}">
                <a16:creationId xmlns:a16="http://schemas.microsoft.com/office/drawing/2014/main" id="{1690EE59-4AE9-4809-A2BD-69EBE832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stateful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invariants</a:t>
            </a:r>
          </a:p>
        </p:txBody>
      </p:sp>
      <p:sp>
        <p:nvSpPr>
          <p:cNvPr id="10" name="proof-value-3">
            <a:extLst xmlns:a="http://schemas.openxmlformats.org/drawingml/2006/main">
              <a:ext uri="{FF2B5EF4-FFF2-40B4-BE49-F238E27FC236}">
                <a16:creationId xmlns:a16="http://schemas.microsoft.com/office/drawing/2014/main" id="{E545DA8D-C554-4D6D-BD60-528C7BE0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0</a:t>
            </a:r>
          </a:p>
        </p:txBody>
      </p:sp>
      <p:sp>
        <p:nvSpPr>
          <p:cNvPr id="11" name="proof-label-3">
            <a:extLst xmlns:a="http://schemas.openxmlformats.org/drawingml/2006/main">
              <a:ext uri="{FF2B5EF4-FFF2-40B4-BE49-F238E27FC236}">
                <a16:creationId xmlns:a16="http://schemas.microsoft.com/office/drawing/2014/main" id="{8F388CD6-92E9-46DB-B3ED-BA4C9692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medium / high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Slither findings</a:t>
            </a:r>
          </a:p>
        </p:txBody>
      </p:sp>
      <p:sp>
        <p:nvSpPr>
          <p:cNvPr id="12" name="proof-value-4">
            <a:extLst xmlns:a="http://schemas.openxmlformats.org/drawingml/2006/main">
              <a:ext uri="{FF2B5EF4-FFF2-40B4-BE49-F238E27FC236}">
                <a16:creationId xmlns:a16="http://schemas.microsoft.com/office/drawing/2014/main" id="{B22CF356-12D9-4DE8-930A-1881E848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768</a:t>
            </a:r>
          </a:p>
        </p:txBody>
      </p:sp>
      <p:sp>
        <p:nvSpPr>
          <p:cNvPr id="13" name="proof-label-4">
            <a:extLst xmlns:a="http://schemas.openxmlformats.org/drawingml/2006/main">
              <a:ext uri="{FF2B5EF4-FFF2-40B4-BE49-F238E27FC236}">
                <a16:creationId xmlns:a16="http://schemas.microsoft.com/office/drawing/2014/main" id="{CAEBCBB7-F681-4C17-A5D5-BCAB1EA1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trades on one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seeded tape</a:t>
            </a:r>
          </a:p>
        </p:txBody>
      </p:sp>
      <p:sp>
        <p:nvSpPr>
          <p:cNvPr id="14" name="slide-8-boundary">
            <a:extLst xmlns:a="http://schemas.openxmlformats.org/drawingml/2006/main">
              <a:ext uri="{FF2B5EF4-FFF2-40B4-BE49-F238E27FC236}">
                <a16:creationId xmlns:a16="http://schemas.microsoft.com/office/drawing/2014/main" id="{78EDD1E7-7374-49E5-B084-62FBE8A8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Security review ≠ independent audit · synthetic evidence ≠ forecast</a:t>
            </a:r>
          </a:p>
        </p:txBody>
      </p:sp>
    </p:spTree>
    <p:extLst>
      <p:ext uri="{BB962C8B-B14F-4D97-AF65-F5344CB8AC3E}">
        <p14:creationId xmlns:p14="http://schemas.microsoft.com/office/powerpoint/2010/main" val="13086479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-9">
            <a:extLst xmlns:a="http://schemas.openxmlformats.org/drawingml/2006/main">
              <a:ext uri="{FF2B5EF4-FFF2-40B4-BE49-F238E27FC236}">
                <a16:creationId xmlns:a16="http://schemas.microsoft.com/office/drawing/2014/main" id="{975D24E6-D13A-4CDC-8621-D4FB7CAB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CLOSE</a:t>
            </a:r>
          </a:p>
        </p:txBody>
      </p:sp>
      <p:sp>
        <p:nvSpPr>
          <p:cNvPr id="2" name="footer-9">
            <a:extLst xmlns:a="http://schemas.openxmlformats.org/drawingml/2006/main">
              <a:ext uri="{FF2B5EF4-FFF2-40B4-BE49-F238E27FC236}">
                <a16:creationId xmlns:a16="http://schemas.microsoft.com/office/drawing/2014/main" id="{23B1C602-F705-4D29-BFA3-2A87814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9 / 9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56CB6FB0-DF72-4C8E-9518-33F9E2DB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9-kicker">
            <a:extLst xmlns:a="http://schemas.openxmlformats.org/drawingml/2006/main">
              <a:ext uri="{FF2B5EF4-FFF2-40B4-BE49-F238E27FC236}">
                <a16:creationId xmlns:a16="http://schemas.microsoft.com/office/drawing/2014/main" id="{6FDFC546-49DB-467D-A497-A1E44D5A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PRICE THE OUTCOME.</a:t>
            </a:r>
          </a:p>
        </p:txBody>
      </p:sp>
      <p:sp>
        <p:nvSpPr>
          <p:cNvPr id="5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6D7105F9-A44A-494C-8242-29F88FB8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9810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4F1E8"/>
                </a:solidFill>
              </a:defRPr>
            </a:pPr>
            <a:r>
              <a:rPr sz="3000" b="1">
                <a:solidFill>
                  <a:srgbClr val="F4F1E8"/>
                </a:solidFill>
              </a:rPr>
              <a:t>MARKOUT turns LP protection from a prediction into a settlement.</a:t>
            </a:r>
          </a:p>
        </p:txBody>
      </p:sp>
      <p:sp>
        <p:nvSpPr>
          <p:cNvPr id="6" name="slide-9-rule">
            <a:extLst xmlns:a="http://schemas.openxmlformats.org/drawingml/2006/main">
              <a:ext uri="{FF2B5EF4-FFF2-40B4-BE49-F238E27FC236}">
                <a16:creationId xmlns:a16="http://schemas.microsoft.com/office/drawing/2014/main" id="{516F9F10-07F8-43E8-90D3-402B8EC0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FFAD"/>
            </a:solidFill>
            <a:prstDash val="solid"/>
          </a:ln>
        </p:spPr>
      </p:sp>
      <p:sp>
        <p:nvSpPr>
          <p:cNvPr id="7" name="slide-9-proof">
            <a:extLst xmlns:a="http://schemas.openxmlformats.org/drawingml/2006/main">
              <a:ext uri="{FF2B5EF4-FFF2-40B4-BE49-F238E27FC236}">
                <a16:creationId xmlns:a16="http://schemas.microsoft.com/office/drawing/2014/main" id="{A9EDEDDD-85D7-45EA-81AE-CAFA367B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742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Public v4 trade settled through Circle in 38 seconds.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Pyth observation arrived with 46 seconds of age.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Negative markout returned 100% of the surcharge.</a:t>
            </a:r>
          </a:p>
        </p:txBody>
      </p:sp>
      <p:sp>
        <p:nvSpPr>
          <p:cNvPr id="8" name="slide-9-gate">
            <a:extLst xmlns:a="http://schemas.openxmlformats.org/drawingml/2006/main">
              <a:ext uri="{FF2B5EF4-FFF2-40B4-BE49-F238E27FC236}">
                <a16:creationId xmlns:a16="http://schemas.microsoft.com/office/drawing/2014/main" id="{A649709C-C6BF-4356-8BF8-304B91F4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514850"/>
            <a:ext cx="3000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CIRCLE SETTLED · 38 SEC
100% REBATED</a:t>
            </a:r>
          </a:p>
        </p:txBody>
      </p:sp>
    </p:spTree>
    <p:extLst>
      <p:ext uri="{BB962C8B-B14F-4D97-AF65-F5344CB8AC3E}">
        <p14:creationId xmlns:p14="http://schemas.microsoft.com/office/powerpoint/2010/main" val="804622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2026-08-21T10:41:09.9690000Z</dcterms:created>
  <dcterms:modified xsi:type="dcterms:W3CDTF">2026-08-21T10:41:09.9690000Z</dcterms:modified>
</coreProperties>
</file>