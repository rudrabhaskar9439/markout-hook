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e84a5188754575" /><Relationship Type="http://schemas.openxmlformats.org/officeDocument/2006/relationships/extended-properties" Target="/docProps/app.xml" Id="R2736bf809b984a8d" /><Relationship Type="http://schemas.openxmlformats.org/officeDocument/2006/relationships/officeDocument" Target="/ppt/presentation.xml" Id="R1858db4a4a894e8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8f3f3cf56a344de"/>
  </p:sldMasterIdLst>
  <p:notesMasterIdLst>
    <p:notesMasterId xmlns:r="http://schemas.openxmlformats.org/officeDocument/2006/relationships" r:id="Ra07b6c4e509647df"/>
  </p:notesMasterIdLst>
  <p:sldIdLst>
    <p:sldId xmlns:r="http://schemas.openxmlformats.org/officeDocument/2006/relationships" id="256" r:id="R4fc829dfb33d4f1b"/>
    <p:sldId xmlns:r="http://schemas.openxmlformats.org/officeDocument/2006/relationships" id="257" r:id="Rf91080a5afd84d1d"/>
    <p:sldId xmlns:r="http://schemas.openxmlformats.org/officeDocument/2006/relationships" id="258" r:id="R9b22f8d40b394ed8"/>
    <p:sldId xmlns:r="http://schemas.openxmlformats.org/officeDocument/2006/relationships" id="259" r:id="R807f5ad9ab974e9e"/>
    <p:sldId xmlns:r="http://schemas.openxmlformats.org/officeDocument/2006/relationships" id="260" r:id="Rc2dac76d7b0a4495"/>
    <p:sldId xmlns:r="http://schemas.openxmlformats.org/officeDocument/2006/relationships" id="261" r:id="R6a4ef8f55ddc470e"/>
    <p:sldId xmlns:r="http://schemas.openxmlformats.org/officeDocument/2006/relationships" id="262" r:id="R7ab5cc48031746e4"/>
    <p:sldId xmlns:r="http://schemas.openxmlformats.org/officeDocument/2006/relationships" id="263" r:id="R9ab775430ad747a3"/>
    <p:sldId xmlns:r="http://schemas.openxmlformats.org/officeDocument/2006/relationships" id="264" r:id="Rb71f98fe46ea43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d9710e1c27c452a" /><Relationship Type="http://schemas.openxmlformats.org/officeDocument/2006/relationships/slideMaster" Target="/ppt/slideMasters/slideMaster1.xml" Id="R08f3f3cf56a344de" /><Relationship Type="http://schemas.openxmlformats.org/officeDocument/2006/relationships/notesMaster" Target="/ppt/notesMasters/notesMaster1.xml" Id="Ra07b6c4e509647df" /><Relationship Type="http://schemas.openxmlformats.org/officeDocument/2006/relationships/presProps" Target="/ppt/presProps.xml" Id="R079cd9bd61f84464" /><Relationship Type="http://schemas.openxmlformats.org/officeDocument/2006/relationships/tableStyles" Target="/ppt/tableStyles.xml" Id="Rf1a8e815dcdd4191" /><Relationship Type="http://schemas.openxmlformats.org/officeDocument/2006/relationships/slide" Target="/ppt/slides/slide1.xml" Id="R4fc829dfb33d4f1b" /><Relationship Type="http://schemas.openxmlformats.org/officeDocument/2006/relationships/slide" Target="/ppt/slides/slide2.xml" Id="Rf91080a5afd84d1d" /><Relationship Type="http://schemas.openxmlformats.org/officeDocument/2006/relationships/slide" Target="/ppt/slides/slide3.xml" Id="R9b22f8d40b394ed8" /><Relationship Type="http://schemas.openxmlformats.org/officeDocument/2006/relationships/slide" Target="/ppt/slides/slide4.xml" Id="R807f5ad9ab974e9e" /><Relationship Type="http://schemas.openxmlformats.org/officeDocument/2006/relationships/slide" Target="/ppt/slides/slide5.xml" Id="Rc2dac76d7b0a4495" /><Relationship Type="http://schemas.openxmlformats.org/officeDocument/2006/relationships/slide" Target="/ppt/slides/slide6.xml" Id="R6a4ef8f55ddc470e" /><Relationship Type="http://schemas.openxmlformats.org/officeDocument/2006/relationships/slide" Target="/ppt/slides/slide7.xml" Id="R7ab5cc48031746e4" /><Relationship Type="http://schemas.openxmlformats.org/officeDocument/2006/relationships/slide" Target="/ppt/slides/slide8.xml" Id="R9ab775430ad747a3" /><Relationship Type="http://schemas.openxmlformats.org/officeDocument/2006/relationships/slide" Target="/ppt/slides/slide9.xml" Id="Rb71f98fe46ea43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fc7adc3fcb408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30765bd5f7f4672" /><Relationship Type="http://schemas.openxmlformats.org/officeDocument/2006/relationships/notesMaster" Target="/ppt/notesMasters/notesMaster1.xml" Id="Rfa12660ee6df4e7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4a3b831f41b4f56" /><Relationship Type="http://schemas.openxmlformats.org/officeDocument/2006/relationships/notesMaster" Target="/ppt/notesMasters/notesMaster1.xml" Id="Re7517823dae04e4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fd3a8f88734a6b" /><Relationship Type="http://schemas.openxmlformats.org/officeDocument/2006/relationships/notesMaster" Target="/ppt/notesMasters/notesMaster1.xml" Id="R4c00d0d42ab544f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5c638a02a994450" /><Relationship Type="http://schemas.openxmlformats.org/officeDocument/2006/relationships/notesMaster" Target="/ppt/notesMasters/notesMaster1.xml" Id="R76caa6da2386424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c70e659a037494e" /><Relationship Type="http://schemas.openxmlformats.org/officeDocument/2006/relationships/notesMaster" Target="/ppt/notesMasters/notesMaster1.xml" Id="R9f28339c84b2456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1e94602b1f4591" /><Relationship Type="http://schemas.openxmlformats.org/officeDocument/2006/relationships/notesMaster" Target="/ppt/notesMasters/notesMaster1.xml" Id="R7aa06a57b17744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c0a5b2d904342f3" /><Relationship Type="http://schemas.openxmlformats.org/officeDocument/2006/relationships/notesMaster" Target="/ppt/notesMasters/notesMaster1.xml" Id="R3b33de75a2f543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44a3df8ae4f42fc" /><Relationship Type="http://schemas.openxmlformats.org/officeDocument/2006/relationships/notesMaster" Target="/ppt/notesMasters/notesMaster1.xml" Id="Raac2a26ab21340f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09ab867b1444fb" /><Relationship Type="http://schemas.openxmlformats.org/officeDocument/2006/relationships/notesMaster" Target="/ppt/notesMasters/notesMaster1.xml" Id="R68436c4e0ca34da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research question: can an AMM wait for the outcome before deciding how much protection to retain?</a:t>
            </a:r>
          </a:p>
          <a:p xmlns:a="http://schemas.openxmlformats.org/drawingml/2006/main">
            <a:r>
              <a:t>Frame Reactive as a lightweight optional accelerator; Circle is the primary authenticated settlement route.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web/public/og.png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volatility is useful but cannot attribute information content to an individual realized trade.</a:t>
            </a:r>
          </a:p>
          <a:p xmlns:a="http://schemas.openxmlformats.org/drawingml/2006/main">
            <a:r>
              <a:t>MARKOUT does not predict intent or blacklist a trader; it observes a directional price outcome.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experiments/README.md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right: the publisher verifies Pyth, and the hook still applies the frozen curve after authenticated delivery.</a:t>
            </a:r>
          </a:p>
          <a:p xmlns:a="http://schemas.openxmlformats.org/drawingml/2006/main">
            <a:r>
              <a:t>Emphasize conservation and the fail-open expiry path.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docs/MECHANISM.md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informed bar first: MARKOUT retains the most only where the markout is adverse.</a:t>
            </a:r>
          </a:p>
          <a:p xmlns:a="http://schemas.openxmlformats.org/drawingml/2006/main">
            <a:r>
              <a:t>Then compare benign and inventory-improving flow against the volatility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experiments/charts/effective_fee_by_flow.svg</a:t>
            </a:r>
          </a:p>
          <a:p xmlns:a="http://schemas.openxmlformats.org/drawingml/2006/main">
            <a:r>
              <a:t>- experiments/results/flow_summary.csv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policy receives the same seeded 768-trade tape, so the comparison isolates fee allocation.</a:t>
            </a:r>
          </a:p>
          <a:p xmlns:a="http://schemas.openxmlformats.org/drawingml/2006/main">
            <a:r>
              <a:t>State the regression clearly: the volatility baseline earns more overall because it charges benign and inventory-improving flow more.</a:t>
            </a:r>
          </a:p>
          <a:p xmlns:a="http://schemas.openxmlformats.org/drawingml/2006/main">
            <a:r>
              <a:t>The proxy is not exact LVR or individual LP PnL.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experiments/charts/lp_net_after_proxy.svg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https://arxiv.org/abs/2208.06046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the chart to the hook invariant: pending, claimable, and reserve balances always reconcile with held assets.</a:t>
            </a:r>
          </a:p>
          <a:p xmlns:a="http://schemas.openxmlformats.org/drawingml/2006/main">
            <a:r>
              <a:t>The 63 invalid observations are not forced into LP protection; they fail open to a full rebate.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experiments/charts/markout_rebate_and_protection.svg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- docs/ACCOUNTING.md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Circle carries the Pyth-verified observation as the primary authenticated message path.</a:t>
            </a:r>
          </a:p>
          <a:p xmlns:a="http://schemas.openxmlformats.org/drawingml/2006/main">
            <a:r>
              <a:t>The stateless Reactive pulse can mirror the same event, while the coordinator makes duplicate delivery harmless.</a:t>
            </a:r>
          </a:p>
          <a:p xmlns:a="http://schemas.openxmlformats.org/drawingml/2006/main">
            <a:r>
              <a:t>The hook retains custody, maturity checks, economic validation, settlement, and permissionless expiry.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docs/HYBRID_SETTLEMENT.md</a:t>
            </a:r>
          </a:p>
          <a:p xmlns:a="http://schemas.openxmlformats.org/drawingml/2006/main">
            <a:r>
              <a:t>- docs/THREAT_MODEL.md</a:t>
            </a:r>
          </a:p>
          <a:p xmlns:a="http://schemas.openxmlformats.org/drawingml/2006/main">
            <a:r>
              <a:t>- docs/PHASE_12_VERIFICATION.md</a:t>
            </a:r>
          </a:p>
          <a:p xmlns:a="http://schemas.openxmlformats.org/drawingml/2006/main">
            <a:r>
              <a:t>- docs/PHASE_13_VERIFICATION.md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cumulative gate includes adversarial authorization, reentrancy, expiry, oracle failure, replay, transport races, and insolvency cases.</a:t>
            </a:r>
          </a:p>
          <a:p xmlns:a="http://schemas.openxmlformats.org/drawingml/2006/main">
            <a:r>
              <a:t>Keep the boundary explicit: this is production-shaped and internally hardened, not independently audited.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docs/PHASE_7_VERIFICATION.md</a:t>
            </a:r>
          </a:p>
          <a:p xmlns:a="http://schemas.openxmlformats.org/drawingml/2006/main">
            <a:r>
              <a:t>- docs/PHASE_11_VERIFICATION.md</a:t>
            </a:r>
          </a:p>
          <a:p xmlns:a="http://schemas.openxmlformats.org/drawingml/2006/main">
            <a:r>
              <a:t>- docs/PHASE_12_VERIFICATION.md</a:t>
            </a:r>
          </a:p>
          <a:p xmlns:a="http://schemas.openxmlformats.org/drawingml/2006/main">
            <a:r>
              <a:t>- docs/PHASE_13_VERIFICATION.md</a:t>
            </a:r>
          </a:p>
          <a:p xmlns:a="http://schemas.openxmlformats.org/drawingml/2006/main">
            <a:r>
              <a:t>- docs/STATIC_ANALYSIS.md</a:t>
            </a:r>
          </a:p>
          <a:p xmlns:a="http://schemas.openxmlformats.org/drawingml/2006/main">
            <a:r>
              <a:t>- experiments/results/report.md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Resolve the opening: MARKOUT does not need to predict intent before execution; it settles what the post-trade outcome supports.</a:t>
            </a:r>
          </a:p>
          <a:p xmlns:a="http://schemas.openxmlformats.org/drawingml/2006/main">
            <a:r>
              <a:t>Negative-markout proof: a 38-second Circle relay delivered a 46-second-old Pyth observation, allocated 0 to LP protection, and returned all 622 test-USDC base units to the trader; the rebate was claimed publicly.</a:t>
            </a:r>
          </a:p>
          <a:p xmlns:a="http://schemas.openxmlformats.org/drawingml/2006/main">
            <a:r>
              <a:t>Positive-markout proof: a 67-second Circle relay delivered a 96-second-old Pyth observation and retained all 3,214,110,616,342 test-WETH base units for LP protection.</a:t>
            </a:r>
          </a:p>
          <a:p xmlns:a="http://schemas.openxmlformats.org/drawingml/2006/main">
            <a:r>
              <a:t>The second trade's LP-protection reserve, accounted balance, and actual token balance are equal onchain.</a:t>
            </a:r>
          </a:p>
          <a:p xmlns:a="http://schemas.openxmlformats.org/drawingml/2006/main">
            <a:r>
              <a:t>Reactive remains optional: its legacy pulse is deployed and subscribed, but no successful public Unichain callback is claimed.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deployments/hybrid-2026-08-21.json</a:t>
            </a:r>
          </a:p>
          <a:p xmlns:a="http://schemas.openxmlformats.org/drawingml/2006/main">
            <a:r>
              <a:t>- https://sepolia.etherscan.io/tx/0xed6af5c42e554c221078110d6db03fba8fd74bf24a88cf52494d4e605a31f6ca</a:t>
            </a:r>
          </a:p>
          <a:p xmlns:a="http://schemas.openxmlformats.org/drawingml/2006/main">
            <a:r>
              <a:t>- https://sepolia.uniscan.xyz/tx/0xa64789b5a08ea8aae8c2b909b6a81b495334b707eaae12610bf3749902ec532f</a:t>
            </a:r>
          </a:p>
          <a:p xmlns:a="http://schemas.openxmlformats.org/drawingml/2006/main">
            <a:r>
              <a:t>- https://sepolia.uniscan.xyz/tx/0xa6ded637a8c9651f252e302f7cedec2969d637f733777f7f2ad71ac700d64630</a:t>
            </a:r>
          </a:p>
          <a:p xmlns:a="http://schemas.openxmlformats.org/drawingml/2006/main">
            <a:r>
              <a:t>- https://sepolia.uniscan.xyz/tx/0xb6179eab5dcf9ff2f3563442dbf826fe5fcb86524e9d71aa913c9ba9e90a2376</a:t>
            </a:r>
          </a:p>
          <a:p xmlns:a="http://schemas.openxmlformats.org/drawingml/2006/main">
            <a:r>
              <a:t>- https://sepolia.etherscan.io/tx/0x9d20a2a8bfc5c7dd654608a9214472ff3ed37cbdff4614064aff28805f9f8861</a:t>
            </a:r>
          </a:p>
          <a:p xmlns:a="http://schemas.openxmlformats.org/drawingml/2006/main">
            <a:r>
              <a:t>- https://sepolia.uniscan.xyz/tx/0xefeece5de9f78ae809652418e1fcd8fb592de950af64e6bbbf66df93bdc25eae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86c9d10652410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d20a39d61ad4973" /><Relationship Type="http://schemas.openxmlformats.org/officeDocument/2006/relationships/slideLayout" Target="/ppt/slideLayouts/slideLayout1.xml" Id="R24b51edecc334b8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b51edecc334b8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14091210604838" /><Relationship Type="http://schemas.openxmlformats.org/officeDocument/2006/relationships/image" Target="/ppt/media/image.png" Id="R025924c93c97427e" /><Relationship Type="http://schemas.openxmlformats.org/officeDocument/2006/relationships/notesSlide" Target="/ppt/notesSlides/notesSlide1.xml" Id="R2662165ae4f6478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a2cc8666774d86" /><Relationship Type="http://schemas.openxmlformats.org/officeDocument/2006/relationships/notesSlide" Target="/ppt/notesSlides/notesSlide2.xml" Id="R55a27fb2405647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43a10be06b432c" /><Relationship Type="http://schemas.openxmlformats.org/officeDocument/2006/relationships/notesSlide" Target="/ppt/notesSlides/notesSlide3.xml" Id="Ra1b6a7dfca1f43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548707c204cff" /><Relationship Type="http://schemas.openxmlformats.org/officeDocument/2006/relationships/image" Target="/ppt/media/image2.png" Id="R0b4f9c8b0cac4e19" /><Relationship Type="http://schemas.openxmlformats.org/officeDocument/2006/relationships/notesSlide" Target="/ppt/notesSlides/notesSlide4.xml" Id="Rd0955b7afb704d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9ed063b484ce4" /><Relationship Type="http://schemas.openxmlformats.org/officeDocument/2006/relationships/image" Target="/ppt/media/image3.png" Id="Rbcdb2eeb7f5248c5" /><Relationship Type="http://schemas.openxmlformats.org/officeDocument/2006/relationships/notesSlide" Target="/ppt/notesSlides/notesSlide5.xml" Id="R7e63f3cce26a47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0335f346eb42ae" /><Relationship Type="http://schemas.openxmlformats.org/officeDocument/2006/relationships/image" Target="/ppt/media/image4.png" Id="Rf2881d82627540eb" /><Relationship Type="http://schemas.openxmlformats.org/officeDocument/2006/relationships/notesSlide" Target="/ppt/notesSlides/notesSlide6.xml" Id="Rf088643258eb41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b41cc9544447ee" /><Relationship Type="http://schemas.openxmlformats.org/officeDocument/2006/relationships/notesSlide" Target="/ppt/notesSlides/notesSlide7.xml" Id="R09ca8a7b60a240b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613ac5d61648af" /><Relationship Type="http://schemas.openxmlformats.org/officeDocument/2006/relationships/notesSlide" Target="/ppt/notesSlides/notesSlide8.xml" Id="Rd782ef2cc9c94c8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2211b7a384f70" /><Relationship Type="http://schemas.openxmlformats.org/officeDocument/2006/relationships/notesSlide" Target="/ppt/notesSlides/notesSlide9.xml" Id="R80d39023d8f1413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924c93c97427e"/>
          <a:stretch xmlns:a="http://schemas.openxmlformats.org/drawingml/2006/main"/>
        </p:blipFill>
        <p:spPr>
          <a:xfrm xmlns:a="http://schemas.openxmlformats.org/drawingml/2006/main">
            <a:off x="0" y="228600"/>
            <a:ext cx="12192000" cy="6400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5271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eyebrow-2">
            <a:extLst xmlns:a="http://schemas.openxmlformats.org/drawingml/2006/main">
              <a:ext uri="{FF2B5EF4-FFF2-40B4-BE49-F238E27FC236}">
                <a16:creationId xmlns:a16="http://schemas.microsoft.com/office/drawing/2014/main" id="{D2B1870E-0096-4B4A-9E19-8B4BC2AB2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THE GAP</a:t>
            </a:r>
          </a:p>
        </p:txBody>
      </p:sp>
      <p:sp>
        <p:nvSpPr>
          <p:cNvPr id="2" name="footer-2">
            <a:extLst xmlns:a="http://schemas.openxmlformats.org/drawingml/2006/main">
              <a:ext uri="{FF2B5EF4-FFF2-40B4-BE49-F238E27FC236}">
                <a16:creationId xmlns:a16="http://schemas.microsoft.com/office/drawing/2014/main" id="{1090B1E3-EB85-46DD-BB9F-C8EAE340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2 / 9</a:t>
            </a:r>
          </a:p>
        </p:txBody>
      </p:sp>
      <p:sp>
        <p:nvSpPr>
          <p:cNvPr id="3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B2D4EE01-FE0C-461B-97C2-D959BC5DF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2-title">
            <a:extLst xmlns:a="http://schemas.openxmlformats.org/drawingml/2006/main">
              <a:ext uri="{FF2B5EF4-FFF2-40B4-BE49-F238E27FC236}">
                <a16:creationId xmlns:a16="http://schemas.microsoft.com/office/drawing/2014/main" id="{59D3CE18-2C7D-4F3C-AB84-8D060D593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Volatility sees risk. It does not see who caused it.</a:t>
            </a:r>
          </a:p>
        </p:txBody>
      </p:sp>
      <p:sp>
        <p:nvSpPr>
          <p:cNvPr id="5" name="volatility-label">
            <a:extLst xmlns:a="http://schemas.openxmlformats.org/drawingml/2006/main">
              <a:ext uri="{FF2B5EF4-FFF2-40B4-BE49-F238E27FC236}">
                <a16:creationId xmlns:a16="http://schemas.microsoft.com/office/drawing/2014/main" id="{9041FBBC-1ED0-4F52-B5DF-9B2FD932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9E0B"/>
                </a:solidFill>
              </a:defRPr>
            </a:pPr>
            <a:r>
              <a:rPr sz="1275" b="1">
                <a:solidFill>
                  <a:srgbClr val="F59E0B"/>
                </a:solidFill>
              </a:rPr>
              <a:t>VOLATILITY FEE</a:t>
            </a:r>
          </a:p>
        </p:txBody>
      </p:sp>
      <p:sp>
        <p:nvSpPr>
          <p:cNvPr id="6" name="volatility-equation">
            <a:extLst xmlns:a="http://schemas.openxmlformats.org/drawingml/2006/main">
              <a:ext uri="{FF2B5EF4-FFF2-40B4-BE49-F238E27FC236}">
                <a16:creationId xmlns:a16="http://schemas.microsoft.com/office/drawing/2014/main" id="{F8C1EF9C-BA55-4D1F-8CAC-EADE6F8AA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57450"/>
            <a:ext cx="4524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f(market state)</a:t>
            </a:r>
          </a:p>
        </p:txBody>
      </p:sp>
      <p:sp>
        <p:nvSpPr>
          <p:cNvPr id="7" name="volatility-body">
            <a:extLst xmlns:a="http://schemas.openxmlformats.org/drawingml/2006/main">
              <a:ext uri="{FF2B5EF4-FFF2-40B4-BE49-F238E27FC236}">
                <a16:creationId xmlns:a16="http://schemas.microsoft.com/office/drawing/2014/main" id="{97F6F05A-342B-4711-9479-C8DFB851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Benign, informed, and inventory-improving flow can all pay more together.</a:t>
            </a:r>
          </a:p>
        </p:txBody>
      </p:sp>
      <p:sp>
        <p:nvSpPr>
          <p:cNvPr id="8" name="not-equal">
            <a:extLst xmlns:a="http://schemas.openxmlformats.org/drawingml/2006/main">
              <a:ext uri="{FF2B5EF4-FFF2-40B4-BE49-F238E27FC236}">
                <a16:creationId xmlns:a16="http://schemas.microsoft.com/office/drawing/2014/main" id="{7C4ACB42-53E0-4AB5-9209-C7301A124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2667000"/>
            <a:ext cx="1066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34414B"/>
                </a:solidFill>
              </a:defRPr>
            </a:pPr>
            <a:r>
              <a:rPr sz="4800" b="1">
                <a:solidFill>
                  <a:srgbClr val="34414B"/>
                </a:solidFill>
              </a:rPr>
              <a:t>≠</a:t>
            </a:r>
          </a:p>
        </p:txBody>
      </p:sp>
      <p:sp>
        <p:nvSpPr>
          <p:cNvPr id="9" name="markout-label">
            <a:extLst xmlns:a="http://schemas.openxmlformats.org/drawingml/2006/main">
              <a:ext uri="{FF2B5EF4-FFF2-40B4-BE49-F238E27FC236}">
                <a16:creationId xmlns:a16="http://schemas.microsoft.com/office/drawing/2014/main" id="{DD1C7131-1A2E-450C-BF5C-F58F7E6A7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9550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MARKOUT</a:t>
            </a:r>
          </a:p>
        </p:txBody>
      </p:sp>
      <p:sp>
        <p:nvSpPr>
          <p:cNvPr id="10" name="markout-equation">
            <a:extLst xmlns:a="http://schemas.openxmlformats.org/drawingml/2006/main">
              <a:ext uri="{FF2B5EF4-FFF2-40B4-BE49-F238E27FC236}">
                <a16:creationId xmlns:a16="http://schemas.microsoft.com/office/drawing/2014/main" id="{44D10FA1-605A-4614-BFEA-65693B2A8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5745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F4F1E8"/>
                </a:solidFill>
              </a:defRPr>
            </a:pPr>
            <a:r>
              <a:rPr sz="2700" b="1">
                <a:solidFill>
                  <a:srgbClr val="F4F1E8"/>
                </a:solidFill>
              </a:rPr>
              <a:t>fee = f(realized outcome)</a:t>
            </a:r>
          </a:p>
        </p:txBody>
      </p:sp>
      <p:sp>
        <p:nvSpPr>
          <p:cNvPr id="11" name="markout-body">
            <a:extLst xmlns:a="http://schemas.openxmlformats.org/drawingml/2006/main">
              <a:ext uri="{FF2B5EF4-FFF2-40B4-BE49-F238E27FC236}">
                <a16:creationId xmlns:a16="http://schemas.microsoft.com/office/drawing/2014/main" id="{1A0D12D6-CAEE-4D93-9707-A824CF910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14700"/>
            <a:ext cx="4476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The final allocation follows directional post-trade evidence—not wallet identity.</a:t>
            </a:r>
          </a:p>
        </p:txBody>
      </p:sp>
      <p:sp>
        <p:nvSpPr>
          <p:cNvPr id="12" name="slide-2-accent">
            <a:extLst xmlns:a="http://schemas.openxmlformats.org/drawingml/2006/main">
              <a:ext uri="{FF2B5EF4-FFF2-40B4-BE49-F238E27FC236}">
                <a16:creationId xmlns:a16="http://schemas.microsoft.com/office/drawing/2014/main" id="{F5E1F5FF-E286-4150-8B95-A80191F50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1047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3" name="slide-2-close">
            <a:extLst xmlns:a="http://schemas.openxmlformats.org/drawingml/2006/main">
              <a:ext uri="{FF2B5EF4-FFF2-40B4-BE49-F238E27FC236}">
                <a16:creationId xmlns:a16="http://schemas.microsoft.com/office/drawing/2014/main" id="{F900E6FC-8DBB-4A14-BD67-431EACA2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00625"/>
            <a:ext cx="1047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Classify the outcome, then settle the protection.</a:t>
            </a:r>
          </a:p>
        </p:txBody>
      </p:sp>
    </p:spTree>
    <p:extLst>
      <p:ext uri="{BB962C8B-B14F-4D97-AF65-F5344CB8AC3E}">
        <p14:creationId xmlns:p14="http://schemas.microsoft.com/office/powerpoint/2010/main" val="133508061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eyebrow-3">
            <a:extLst xmlns:a="http://schemas.openxmlformats.org/drawingml/2006/main">
              <a:ext uri="{FF2B5EF4-FFF2-40B4-BE49-F238E27FC236}">
                <a16:creationId xmlns:a16="http://schemas.microsoft.com/office/drawing/2014/main" id="{9CCDC7BA-092C-4B0F-8B85-460A86235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MECHANISM</a:t>
            </a:r>
          </a:p>
        </p:txBody>
      </p:sp>
      <p:sp>
        <p:nvSpPr>
          <p:cNvPr id="2" name="footer-3">
            <a:extLst xmlns:a="http://schemas.openxmlformats.org/drawingml/2006/main">
              <a:ext uri="{FF2B5EF4-FFF2-40B4-BE49-F238E27FC236}">
                <a16:creationId xmlns:a16="http://schemas.microsoft.com/office/drawing/2014/main" id="{EB5A8531-DDA4-4BF4-BE28-24CB2AA3D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3 / 9</a:t>
            </a:r>
          </a:p>
        </p:txBody>
      </p:sp>
      <p:sp>
        <p:nvSpPr>
          <p:cNvPr id="3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723E011-5025-457B-97FA-04C6D247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3-title">
            <a:extLst xmlns:a="http://schemas.openxmlformats.org/drawingml/2006/main">
              <a:ext uri="{FF2B5EF4-FFF2-40B4-BE49-F238E27FC236}">
                <a16:creationId xmlns:a16="http://schemas.microsoft.com/office/drawing/2014/main" id="{BE9E8C8C-A3ED-48EF-89DF-F0D7A7FC6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prices flow after it reveals itself.</a:t>
            </a:r>
          </a:p>
        </p:txBody>
      </p:sp>
      <p:sp>
        <p:nvSpPr>
          <p:cNvPr id="5" name="slide-3-subtitle">
            <a:extLst xmlns:a="http://schemas.openxmlformats.org/drawingml/2006/main">
              <a:ext uri="{FF2B5EF4-FFF2-40B4-BE49-F238E27FC236}">
                <a16:creationId xmlns:a16="http://schemas.microsoft.com/office/drawing/2014/main" id="{7D3B8119-7463-4F5A-8AFB-1BDBCE3F3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A bounded provisional surcharge becomes either trader rebate or LP protection.</a:t>
            </a:r>
          </a:p>
        </p:txBody>
      </p:sp>
      <p:sp>
        <p:nvSpPr>
          <p:cNvPr id="6" name="mechanism-node-1">
            <a:extLst xmlns:a="http://schemas.openxmlformats.org/drawingml/2006/main">
              <a:ext uri="{FF2B5EF4-FFF2-40B4-BE49-F238E27FC236}">
                <a16:creationId xmlns:a16="http://schemas.microsoft.com/office/drawing/2014/main" id="{9042057C-744D-470F-949D-9B938B25B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mechanism-index-1">
            <a:extLst xmlns:a="http://schemas.openxmlformats.org/drawingml/2006/main">
              <a:ext uri="{FF2B5EF4-FFF2-40B4-BE49-F238E27FC236}">
                <a16:creationId xmlns:a16="http://schemas.microsoft.com/office/drawing/2014/main" id="{70EDDBF5-BE68-4DDB-BC1E-BAD5BD23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1</a:t>
            </a:r>
          </a:p>
        </p:txBody>
      </p:sp>
      <p:sp>
        <p:nvSpPr>
          <p:cNvPr id="8" name="mechanism-label-1">
            <a:extLst xmlns:a="http://schemas.openxmlformats.org/drawingml/2006/main">
              <a:ext uri="{FF2B5EF4-FFF2-40B4-BE49-F238E27FC236}">
                <a16:creationId xmlns:a16="http://schemas.microsoft.com/office/drawing/2014/main" id="{CF0A5C51-8F50-4831-9DF2-B3A750393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EXECUTE</a:t>
            </a:r>
          </a:p>
        </p:txBody>
      </p:sp>
      <p:sp>
        <p:nvSpPr>
          <p:cNvPr id="9" name="mechanism-body-1">
            <a:extLst xmlns:a="http://schemas.openxmlformats.org/drawingml/2006/main">
              <a:ext uri="{FF2B5EF4-FFF2-40B4-BE49-F238E27FC236}">
                <a16:creationId xmlns:a16="http://schemas.microsoft.com/office/drawing/2014/main" id="{0D92CFD0-92B1-4402-A35E-0D8050FF6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v4 swap collects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a bounded surcharge</a:t>
            </a:r>
          </a:p>
        </p:txBody>
      </p:sp>
      <p:sp>
        <p:nvSpPr>
          <p:cNvPr id="10" name="mechanism-node-2">
            <a:extLst xmlns:a="http://schemas.openxmlformats.org/drawingml/2006/main">
              <a:ext uri="{FF2B5EF4-FFF2-40B4-BE49-F238E27FC236}">
                <a16:creationId xmlns:a16="http://schemas.microsoft.com/office/drawing/2014/main" id="{0FA66BC1-BF04-4D6F-A838-4A07B464A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1" name="mechanism-index-2">
            <a:extLst xmlns:a="http://schemas.openxmlformats.org/drawingml/2006/main">
              <a:ext uri="{FF2B5EF4-FFF2-40B4-BE49-F238E27FC236}">
                <a16:creationId xmlns:a16="http://schemas.microsoft.com/office/drawing/2014/main" id="{789B9BB6-B941-4B5C-899D-4ED8D356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2</a:t>
            </a:r>
          </a:p>
        </p:txBody>
      </p:sp>
      <p:sp>
        <p:nvSpPr>
          <p:cNvPr id="12" name="mechanism-label-2">
            <a:extLst xmlns:a="http://schemas.openxmlformats.org/drawingml/2006/main">
              <a:ext uri="{FF2B5EF4-FFF2-40B4-BE49-F238E27FC236}">
                <a16:creationId xmlns:a16="http://schemas.microsoft.com/office/drawing/2014/main" id="{FBC4D72C-B0A6-41C9-AEFD-EBC7F33EA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WAIT</a:t>
            </a:r>
          </a:p>
        </p:txBody>
      </p:sp>
      <p:sp>
        <p:nvSpPr>
          <p:cNvPr id="13" name="mechanism-body-2">
            <a:extLst xmlns:a="http://schemas.openxmlformats.org/drawingml/2006/main">
              <a:ext uri="{FF2B5EF4-FFF2-40B4-BE49-F238E27FC236}">
                <a16:creationId xmlns:a16="http://schemas.microsoft.com/office/drawing/2014/main" id="{FD6C40C8-C621-4F20-B8FC-D2C5E1D8D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five-minute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maturity window</a:t>
            </a:r>
          </a:p>
        </p:txBody>
      </p:sp>
      <p:sp>
        <p:nvSpPr>
          <p:cNvPr id="14" name="mechanism-node-3">
            <a:extLst xmlns:a="http://schemas.openxmlformats.org/drawingml/2006/main">
              <a:ext uri="{FF2B5EF4-FFF2-40B4-BE49-F238E27FC236}">
                <a16:creationId xmlns:a16="http://schemas.microsoft.com/office/drawing/2014/main" id="{62271572-6AF7-45EF-A209-B2414FD7E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15" name="mechanism-index-3">
            <a:extLst xmlns:a="http://schemas.openxmlformats.org/drawingml/2006/main">
              <a:ext uri="{FF2B5EF4-FFF2-40B4-BE49-F238E27FC236}">
                <a16:creationId xmlns:a16="http://schemas.microsoft.com/office/drawing/2014/main" id="{9A06B4AD-8FF1-499B-BFEC-DC253647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3</a:t>
            </a:r>
          </a:p>
        </p:txBody>
      </p:sp>
      <p:sp>
        <p:nvSpPr>
          <p:cNvPr id="16" name="mechanism-label-3">
            <a:extLst xmlns:a="http://schemas.openxmlformats.org/drawingml/2006/main">
              <a:ext uri="{FF2B5EF4-FFF2-40B4-BE49-F238E27FC236}">
                <a16:creationId xmlns:a16="http://schemas.microsoft.com/office/drawing/2014/main" id="{5F819087-DDED-4B72-9525-3D1228E62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OBSERVE</a:t>
            </a:r>
          </a:p>
        </p:txBody>
      </p:sp>
      <p:sp>
        <p:nvSpPr>
          <p:cNvPr id="17" name="mechanism-body-3">
            <a:extLst xmlns:a="http://schemas.openxmlformats.org/drawingml/2006/main">
              <a:ext uri="{FF2B5EF4-FFF2-40B4-BE49-F238E27FC236}">
                <a16:creationId xmlns:a16="http://schemas.microsoft.com/office/drawing/2014/main" id="{500D8A11-FC11-460C-810F-6A3D40A9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Pyth-verified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price observation</a:t>
            </a:r>
          </a:p>
        </p:txBody>
      </p:sp>
      <p:sp>
        <p:nvSpPr>
          <p:cNvPr id="18" name="mechanism-node-4">
            <a:extLst xmlns:a="http://schemas.openxmlformats.org/drawingml/2006/main">
              <a:ext uri="{FF2B5EF4-FFF2-40B4-BE49-F238E27FC236}">
                <a16:creationId xmlns:a16="http://schemas.microsoft.com/office/drawing/2014/main" id="{1A9C931B-8D56-4C47-AACE-B2EC5E4F3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19" name="mechanism-index-4">
            <a:extLst xmlns:a="http://schemas.openxmlformats.org/drawingml/2006/main">
              <a:ext uri="{FF2B5EF4-FFF2-40B4-BE49-F238E27FC236}">
                <a16:creationId xmlns:a16="http://schemas.microsoft.com/office/drawing/2014/main" id="{2BE70219-5A9E-4EA4-B21A-03F7A9F2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4</a:t>
            </a:r>
          </a:p>
        </p:txBody>
      </p:sp>
      <p:sp>
        <p:nvSpPr>
          <p:cNvPr id="20" name="mechanism-label-4">
            <a:extLst xmlns:a="http://schemas.openxmlformats.org/drawingml/2006/main">
              <a:ext uri="{FF2B5EF4-FFF2-40B4-BE49-F238E27FC236}">
                <a16:creationId xmlns:a16="http://schemas.microsoft.com/office/drawing/2014/main" id="{BD279390-A88F-4806-8493-5084C30F7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SETTLE</a:t>
            </a:r>
          </a:p>
        </p:txBody>
      </p:sp>
      <p:sp>
        <p:nvSpPr>
          <p:cNvPr id="21" name="mechanism-body-4">
            <a:extLst xmlns:a="http://schemas.openxmlformats.org/drawingml/2006/main">
              <a:ext uri="{FF2B5EF4-FFF2-40B4-BE49-F238E27FC236}">
                <a16:creationId xmlns:a16="http://schemas.microsoft.com/office/drawing/2014/main" id="{398B9CD6-8DBD-427B-ADF5-6499252C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bounded markout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retention curve</a:t>
            </a:r>
          </a:p>
        </p:txBody>
      </p:sp>
      <p:sp>
        <p:nvSpPr>
          <p:cNvPr id="22" name="mechanism-node-5">
            <a:extLst xmlns:a="http://schemas.openxmlformats.org/drawingml/2006/main">
              <a:ext uri="{FF2B5EF4-FFF2-40B4-BE49-F238E27FC236}">
                <a16:creationId xmlns:a16="http://schemas.microsoft.com/office/drawing/2014/main" id="{20F4E424-93F1-40D8-A5A9-BC1AF735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2571750"/>
            <a:ext cx="1866900" cy="15430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23" name="mechanism-index-5">
            <a:extLst xmlns:a="http://schemas.openxmlformats.org/drawingml/2006/main">
              <a:ext uri="{FF2B5EF4-FFF2-40B4-BE49-F238E27FC236}">
                <a16:creationId xmlns:a16="http://schemas.microsoft.com/office/drawing/2014/main" id="{91012C94-476D-48F0-BF09-6C29ACC12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74320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8AFFAD"/>
                </a:solidFill>
              </a:defRPr>
            </a:pPr>
            <a:r>
              <a:rPr sz="1275" b="1">
                <a:solidFill>
                  <a:srgbClr val="8AFFAD"/>
                </a:solidFill>
              </a:rPr>
              <a:t>5</a:t>
            </a:r>
          </a:p>
        </p:txBody>
      </p:sp>
      <p:sp>
        <p:nvSpPr>
          <p:cNvPr id="24" name="mechanism-label-5">
            <a:extLst xmlns:a="http://schemas.openxmlformats.org/drawingml/2006/main">
              <a:ext uri="{FF2B5EF4-FFF2-40B4-BE49-F238E27FC236}">
                <a16:creationId xmlns:a16="http://schemas.microsoft.com/office/drawing/2014/main" id="{47870143-190E-4603-8B0E-B2C701AD7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14675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4F1E8"/>
                </a:solidFill>
              </a:defRPr>
            </a:pPr>
            <a:r>
              <a:rPr sz="1425" b="1">
                <a:solidFill>
                  <a:srgbClr val="F4F1E8"/>
                </a:solidFill>
              </a:rPr>
              <a:t>ALLOCATE</a:t>
            </a:r>
          </a:p>
        </p:txBody>
      </p:sp>
      <p:sp>
        <p:nvSpPr>
          <p:cNvPr id="25" name="mechanism-body-5">
            <a:extLst xmlns:a="http://schemas.openxmlformats.org/drawingml/2006/main">
              <a:ext uri="{FF2B5EF4-FFF2-40B4-BE49-F238E27FC236}">
                <a16:creationId xmlns:a16="http://schemas.microsoft.com/office/drawing/2014/main" id="{7E29B7A7-C830-4B99-B080-44C6DE097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514725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rebate + reserve</a:t>
            </a:r>
          </a:p>
          <a:p xmlns:a="http://schemas.openxmlformats.org/drawingml/2006/main">
            <a:pPr>
              <a:buNone/>
              <a:defRPr sz="1200">
                <a:solidFill>
                  <a:srgbClr val="9CA9B5"/>
                </a:solidFill>
              </a:defRPr>
            </a:pPr>
            <a:r>
              <a:rPr sz="1200">
                <a:solidFill>
                  <a:srgbClr val="9CA9B5"/>
                </a:solidFill>
              </a:rPr>
              <a:t>conserve escrow</a:t>
            </a:r>
          </a:p>
        </p:txBody>
      </p:sp>
      <p:cxnSp>
        <p:nvCxnSpPr>
          <p:cNvPr id="288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5527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289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7434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290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693420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291" name="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124950" y="334327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30" name="slide-3-fail-open">
            <a:extLst xmlns:a="http://schemas.openxmlformats.org/drawingml/2006/main">
              <a:ext uri="{FF2B5EF4-FFF2-40B4-BE49-F238E27FC236}">
                <a16:creationId xmlns:a16="http://schemas.microsoft.com/office/drawing/2014/main" id="{0EE6C47D-563D-4972-9D0A-EEAC83EF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7625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No valid observation by expiry → full provisional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167303722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eyebrow-4">
            <a:extLst xmlns:a="http://schemas.openxmlformats.org/drawingml/2006/main">
              <a:ext uri="{FF2B5EF4-FFF2-40B4-BE49-F238E27FC236}">
                <a16:creationId xmlns:a16="http://schemas.microsoft.com/office/drawing/2014/main" id="{E6516E21-DD29-4DD4-A95C-BABF90562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DISCRIMINATION</a:t>
            </a:r>
          </a:p>
        </p:txBody>
      </p:sp>
      <p:sp>
        <p:nvSpPr>
          <p:cNvPr id="2" name="footer-4">
            <a:extLst xmlns:a="http://schemas.openxmlformats.org/drawingml/2006/main">
              <a:ext uri="{FF2B5EF4-FFF2-40B4-BE49-F238E27FC236}">
                <a16:creationId xmlns:a16="http://schemas.microsoft.com/office/drawing/2014/main" id="{3D9ABBA8-CDCB-469A-926D-F353A73C5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4 / 9</a:t>
            </a:r>
          </a:p>
        </p:txBody>
      </p:sp>
      <p:sp>
        <p:nvSpPr>
          <p:cNvPr id="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5D8B499-DEBF-4194-9589-8812EF6D7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4-title">
            <a:extLst xmlns:a="http://schemas.openxmlformats.org/drawingml/2006/main">
              <a:ext uri="{FF2B5EF4-FFF2-40B4-BE49-F238E27FC236}">
                <a16:creationId xmlns:a16="http://schemas.microsoft.com/office/drawing/2014/main" id="{268951C2-8534-4E80-A367-EDD4B9F83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MARKOUT charges information—not the whole market.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f9c8b0cac4e19"/>
          <a:stretch xmlns:a="http://schemas.openxmlformats.org/drawingml/2006/main"/>
        </p:blipFill>
        <p:spPr>
          <a:xfrm xmlns:a="http://schemas.openxmlformats.org/drawingml/2006/main">
            <a:off x="2611694" y="1857375"/>
            <a:ext cx="6968613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slide-4-callout">
            <a:extLst xmlns:a="http://schemas.openxmlformats.org/drawingml/2006/main">
              <a:ext uri="{FF2B5EF4-FFF2-40B4-BE49-F238E27FC236}">
                <a16:creationId xmlns:a16="http://schemas.microsoft.com/office/drawing/2014/main" id="{44EB9238-ABB2-4578-BDF1-BF1DF77D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1504950"/>
            <a:ext cx="933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73.06 bps informed · 39.43 bps benign · 30.00 bps inventory-improving</a:t>
            </a:r>
          </a:p>
        </p:txBody>
      </p:sp>
    </p:spTree>
    <p:extLst>
      <p:ext uri="{BB962C8B-B14F-4D97-AF65-F5344CB8AC3E}">
        <p14:creationId xmlns:p14="http://schemas.microsoft.com/office/powerpoint/2010/main" val="112923593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eyebrow-5">
            <a:extLst xmlns:a="http://schemas.openxmlformats.org/drawingml/2006/main">
              <a:ext uri="{FF2B5EF4-FFF2-40B4-BE49-F238E27FC236}">
                <a16:creationId xmlns:a16="http://schemas.microsoft.com/office/drawing/2014/main" id="{7EFEA686-BF40-4936-8234-C6ECEF18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EVIDENCE</a:t>
            </a:r>
          </a:p>
        </p:txBody>
      </p:sp>
      <p:sp>
        <p:nvSpPr>
          <p:cNvPr id="2" name="footer-5">
            <a:extLst xmlns:a="http://schemas.openxmlformats.org/drawingml/2006/main">
              <a:ext uri="{FF2B5EF4-FFF2-40B4-BE49-F238E27FC236}">
                <a16:creationId xmlns:a16="http://schemas.microsoft.com/office/drawing/2014/main" id="{C0297821-4CC5-4BBF-8E42-A0C6DA50F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5 / 9</a:t>
            </a:r>
          </a:p>
        </p:txBody>
      </p:sp>
      <p:sp>
        <p:nvSpPr>
          <p:cNvPr id="3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1C9A307D-3F41-4016-B39F-AE45BA1C9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5-title">
            <a:extLst xmlns:a="http://schemas.openxmlformats.org/drawingml/2006/main">
              <a:ext uri="{FF2B5EF4-FFF2-40B4-BE49-F238E27FC236}">
                <a16:creationId xmlns:a16="http://schemas.microsoft.com/office/drawing/2014/main" id="{66F2F603-5E0D-40EB-BDAC-2AAEA0B9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experiment supports a tradeoff, not a miracle.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db2eeb7f5248c5"/>
          <a:stretch xmlns:a="http://schemas.openxmlformats.org/drawingml/2006/main"/>
        </p:blipFill>
        <p:spPr>
          <a:xfrm xmlns:a="http://schemas.openxmlformats.org/drawingml/2006/main">
            <a:off x="637560" y="1333500"/>
            <a:ext cx="7964129" cy="4572000"/>
          </a:xfrm>
          <a:prstGeom xmlns:a="http://schemas.openxmlformats.org/drawingml/2006/main" prst="rect">
            <a:avLst/>
          </a:prstGeom>
        </p:spPr>
      </p:pic>
      <p:sp>
        <p:nvSpPr>
          <p:cNvPr id="6" name="vs-fixed-value">
            <a:extLst xmlns:a="http://schemas.openxmlformats.org/drawingml/2006/main">
              <a:ext uri="{FF2B5EF4-FFF2-40B4-BE49-F238E27FC236}">
                <a16:creationId xmlns:a16="http://schemas.microsoft.com/office/drawing/2014/main" id="{8B0FB59A-4EC2-49D2-AFB2-B44A8E61C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8AFFAD"/>
                </a:solidFill>
              </a:defRPr>
            </a:pPr>
            <a:r>
              <a:rPr sz="3150" b="1">
                <a:solidFill>
                  <a:srgbClr val="8AFFAD"/>
                </a:solidFill>
              </a:rPr>
              <a:t>+$3,249.79</a:t>
            </a:r>
          </a:p>
        </p:txBody>
      </p:sp>
      <p:sp>
        <p:nvSpPr>
          <p:cNvPr id="7" name="vs-fixed-label">
            <a:extLst xmlns:a="http://schemas.openxmlformats.org/drawingml/2006/main">
              <a:ext uri="{FF2B5EF4-FFF2-40B4-BE49-F238E27FC236}">
                <a16:creationId xmlns:a16="http://schemas.microsoft.com/office/drawing/2014/main" id="{C26B03CB-AAA7-491A-8DF4-E0011947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86050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LP net after proxy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fixed fee</a:t>
            </a:r>
          </a:p>
        </p:txBody>
      </p:sp>
      <p:sp>
        <p:nvSpPr>
          <p:cNvPr id="8" name="vs-volatility-value">
            <a:extLst xmlns:a="http://schemas.openxmlformats.org/drawingml/2006/main">
              <a:ext uri="{FF2B5EF4-FFF2-40B4-BE49-F238E27FC236}">
                <a16:creationId xmlns:a16="http://schemas.microsoft.com/office/drawing/2014/main" id="{F751CEB4-8459-4680-A19C-235E5929D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857625"/>
            <a:ext cx="276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59E0B"/>
                </a:solidFill>
              </a:defRPr>
            </a:pPr>
            <a:r>
              <a:rPr sz="3150" b="1">
                <a:solidFill>
                  <a:srgbClr val="F59E0B"/>
                </a:solidFill>
              </a:rPr>
              <a:t>−$454.75</a:t>
            </a:r>
          </a:p>
        </p:txBody>
      </p:sp>
      <p:sp>
        <p:nvSpPr>
          <p:cNvPr id="9" name="vs-volatility-label">
            <a:extLst xmlns:a="http://schemas.openxmlformats.org/drawingml/2006/main">
              <a:ext uri="{FF2B5EF4-FFF2-40B4-BE49-F238E27FC236}">
                <a16:creationId xmlns:a16="http://schemas.microsoft.com/office/drawing/2014/main" id="{CF63E797-B814-424B-A9D6-D42D564D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76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versus volatility fee;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good flow pays less</a:t>
            </a:r>
          </a:p>
        </p:txBody>
      </p:sp>
    </p:spTree>
    <p:extLst>
      <p:ext uri="{BB962C8B-B14F-4D97-AF65-F5344CB8AC3E}">
        <p14:creationId xmlns:p14="http://schemas.microsoft.com/office/powerpoint/2010/main" val="901689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eyebrow-6">
            <a:extLst xmlns:a="http://schemas.openxmlformats.org/drawingml/2006/main">
              <a:ext uri="{FF2B5EF4-FFF2-40B4-BE49-F238E27FC236}">
                <a16:creationId xmlns:a16="http://schemas.microsoft.com/office/drawing/2014/main" id="{2FC4CBFF-C793-4766-84F3-2C35D395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ACCOUNTING</a:t>
            </a:r>
          </a:p>
        </p:txBody>
      </p:sp>
      <p:sp>
        <p:nvSpPr>
          <p:cNvPr id="2" name="footer-6">
            <a:extLst xmlns:a="http://schemas.openxmlformats.org/drawingml/2006/main">
              <a:ext uri="{FF2B5EF4-FFF2-40B4-BE49-F238E27FC236}">
                <a16:creationId xmlns:a16="http://schemas.microsoft.com/office/drawing/2014/main" id="{17E43B93-2076-4F8D-A76A-136821E3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6 / 9</a:t>
            </a:r>
          </a:p>
        </p:txBody>
      </p:sp>
      <p:sp>
        <p:nvSpPr>
          <p:cNvPr id="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47B9848-523D-4977-9B76-A7EEACFD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6-title">
            <a:extLst xmlns:a="http://schemas.openxmlformats.org/drawingml/2006/main">
              <a:ext uri="{FF2B5EF4-FFF2-40B4-BE49-F238E27FC236}">
                <a16:creationId xmlns:a16="http://schemas.microsoft.com/office/drawing/2014/main" id="{E98815ED-C47D-49D3-8363-0E969148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Every provisional dollar ends in a named bucket.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881d82627540eb"/>
          <a:stretch xmlns:a="http://schemas.openxmlformats.org/drawingml/2006/main"/>
        </p:blipFill>
        <p:spPr>
          <a:xfrm xmlns:a="http://schemas.openxmlformats.org/drawingml/2006/main">
            <a:off x="523875" y="1391267"/>
            <a:ext cx="7762875" cy="4456465"/>
          </a:xfrm>
          <a:prstGeom xmlns:a="http://schemas.openxmlformats.org/drawingml/2006/main" prst="rect">
            <a:avLst/>
          </a:prstGeom>
        </p:spPr>
      </p:pic>
      <p:sp>
        <p:nvSpPr>
          <p:cNvPr id="6" name="rebates-value">
            <a:extLst xmlns:a="http://schemas.openxmlformats.org/drawingml/2006/main">
              <a:ext uri="{FF2B5EF4-FFF2-40B4-BE49-F238E27FC236}">
                <a16:creationId xmlns:a16="http://schemas.microsoft.com/office/drawing/2014/main" id="{0E71CF41-D346-4800-BB32-A8CB4F368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762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41D47A"/>
                </a:solidFill>
              </a:defRPr>
            </a:pPr>
            <a:r>
              <a:rPr sz="3600" b="1">
                <a:solidFill>
                  <a:srgbClr val="41D47A"/>
                </a:solidFill>
              </a:rPr>
              <a:t>$6,746.61</a:t>
            </a:r>
          </a:p>
        </p:txBody>
      </p:sp>
      <p:sp>
        <p:nvSpPr>
          <p:cNvPr id="7" name="rebates-label">
            <a:extLst xmlns:a="http://schemas.openxmlformats.org/drawingml/2006/main">
              <a:ext uri="{FF2B5EF4-FFF2-40B4-BE49-F238E27FC236}">
                <a16:creationId xmlns:a16="http://schemas.microsoft.com/office/drawing/2014/main" id="{D8E068AF-1406-46A6-942F-831234E0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2447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returned to traders</a:t>
            </a:r>
          </a:p>
        </p:txBody>
      </p:sp>
      <p:sp>
        <p:nvSpPr>
          <p:cNvPr id="8" name="reserve-value">
            <a:extLst xmlns:a="http://schemas.openxmlformats.org/drawingml/2006/main">
              <a:ext uri="{FF2B5EF4-FFF2-40B4-BE49-F238E27FC236}">
                <a16:creationId xmlns:a16="http://schemas.microsoft.com/office/drawing/2014/main" id="{B597259C-D089-49BF-94E7-9AFC7D032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286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EC4899"/>
                </a:solidFill>
              </a:defRPr>
            </a:pPr>
            <a:r>
              <a:rPr sz="3600" b="1">
                <a:solidFill>
                  <a:srgbClr val="EC4899"/>
                </a:solidFill>
              </a:rPr>
              <a:t>$3,249.79</a:t>
            </a:r>
          </a:p>
        </p:txBody>
      </p:sp>
      <p:sp>
        <p:nvSpPr>
          <p:cNvPr id="9" name="reserve-label">
            <a:extLst xmlns:a="http://schemas.openxmlformats.org/drawingml/2006/main">
              <a:ext uri="{FF2B5EF4-FFF2-40B4-BE49-F238E27FC236}">
                <a16:creationId xmlns:a16="http://schemas.microsoft.com/office/drawing/2014/main" id="{389F57A8-9A03-452F-9ABE-6AA8EA5BB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3971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credited to LP protection</a:t>
            </a:r>
          </a:p>
        </p:txBody>
      </p:sp>
      <p:sp>
        <p:nvSpPr>
          <p:cNvPr id="10" name="expiry-value">
            <a:extLst xmlns:a="http://schemas.openxmlformats.org/drawingml/2006/main">
              <a:ext uri="{FF2B5EF4-FFF2-40B4-BE49-F238E27FC236}">
                <a16:creationId xmlns:a16="http://schemas.microsoft.com/office/drawing/2014/main" id="{7D57EE9A-5777-4C7C-9078-B28403C67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810125"/>
            <a:ext cx="2667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4F1E8"/>
                </a:solidFill>
              </a:defRPr>
            </a:pPr>
            <a:r>
              <a:rPr sz="3600" b="1">
                <a:solidFill>
                  <a:srgbClr val="F4F1E8"/>
                </a:solidFill>
              </a:rPr>
              <a:t>63</a:t>
            </a:r>
          </a:p>
        </p:txBody>
      </p:sp>
      <p:sp>
        <p:nvSpPr>
          <p:cNvPr id="11" name="expiry-label">
            <a:extLst xmlns:a="http://schemas.openxmlformats.org/drawingml/2006/main">
              <a:ext uri="{FF2B5EF4-FFF2-40B4-BE49-F238E27FC236}">
                <a16:creationId xmlns:a16="http://schemas.microsoft.com/office/drawing/2014/main" id="{655BDB60-E232-45D8-B9D6-D306AA6B8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5495925"/>
            <a:ext cx="266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invalid references expire</a:t>
            </a:r>
          </a:p>
          <a:p xmlns:a="http://schemas.openxmlformats.org/drawingml/2006/main">
            <a:pPr>
              <a:buNone/>
              <a:defRPr sz="1275">
                <a:solidFill>
                  <a:srgbClr val="9CA9B5"/>
                </a:solidFill>
              </a:defRPr>
            </a:pPr>
            <a:r>
              <a:rPr sz="1275">
                <a:solidFill>
                  <a:srgbClr val="9CA9B5"/>
                </a:solidFill>
              </a:rPr>
              <a:t>with full surcharge rebate</a:t>
            </a:r>
          </a:p>
        </p:txBody>
      </p:sp>
    </p:spTree>
    <p:extLst>
      <p:ext uri="{BB962C8B-B14F-4D97-AF65-F5344CB8AC3E}">
        <p14:creationId xmlns:p14="http://schemas.microsoft.com/office/powerpoint/2010/main" val="6064565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eyebrow-7">
            <a:extLst xmlns:a="http://schemas.openxmlformats.org/drawingml/2006/main">
              <a:ext uri="{FF2B5EF4-FFF2-40B4-BE49-F238E27FC236}">
                <a16:creationId xmlns:a16="http://schemas.microsoft.com/office/drawing/2014/main" id="{66F7C44A-B107-4670-ACC1-A73A9D48C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AUTONOMY</a:t>
            </a:r>
          </a:p>
        </p:txBody>
      </p:sp>
      <p:sp>
        <p:nvSpPr>
          <p:cNvPr id="2" name="footer-7">
            <a:extLst xmlns:a="http://schemas.openxmlformats.org/drawingml/2006/main">
              <a:ext uri="{FF2B5EF4-FFF2-40B4-BE49-F238E27FC236}">
                <a16:creationId xmlns:a16="http://schemas.microsoft.com/office/drawing/2014/main" id="{D48938B5-E411-40A8-BDDD-59F43C518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7 / 9</a:t>
            </a:r>
          </a:p>
        </p:txBody>
      </p:sp>
      <p:sp>
        <p:nvSpPr>
          <p:cNvPr id="3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A073FB9C-9C88-49A1-B820-37F2D4BA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7-title">
            <a:extLst xmlns:a="http://schemas.openxmlformats.org/drawingml/2006/main">
              <a:ext uri="{FF2B5EF4-FFF2-40B4-BE49-F238E27FC236}">
                <a16:creationId xmlns:a16="http://schemas.microsoft.com/office/drawing/2014/main" id="{6720FEC3-B62C-4725-8E0F-960DB655D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Two transport paths; one immutable settlement boundary.</a:t>
            </a:r>
          </a:p>
        </p:txBody>
      </p:sp>
      <p:sp>
        <p:nvSpPr>
          <p:cNvPr id="5" name="slide-7-subtitle">
            <a:extLst xmlns:a="http://schemas.openxmlformats.org/drawingml/2006/main">
              <a:ext uri="{FF2B5EF4-FFF2-40B4-BE49-F238E27FC236}">
                <a16:creationId xmlns:a16="http://schemas.microsoft.com/office/drawing/2014/main" id="{6B6D307D-88FF-4FFD-AA08-3B5C7F6F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00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>
                <a:solidFill>
                  <a:srgbClr val="9CA9B5"/>
                </a:solidFill>
              </a:defRPr>
            </a:pPr>
            <a:r>
              <a:rPr sz="1575">
                <a:solidFill>
                  <a:srgbClr val="9CA9B5"/>
                </a:solidFill>
              </a:rPr>
              <a:t>Circle is primary. Reactive is optional. The hook alone owns custody and final accounting.</a:t>
            </a:r>
          </a:p>
        </p:txBody>
      </p:sp>
      <p:sp>
        <p:nvSpPr>
          <p:cNvPr id="6" name="origin-boundary">
            <a:extLst xmlns:a="http://schemas.openxmlformats.org/drawingml/2006/main">
              <a:ext uri="{FF2B5EF4-FFF2-40B4-BE49-F238E27FC236}">
                <a16:creationId xmlns:a16="http://schemas.microsoft.com/office/drawing/2014/main" id="{2EA9B362-B6B5-4F74-A6F7-D3E74982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7" name="reactive-boundary">
            <a:extLst xmlns:a="http://schemas.openxmlformats.org/drawingml/2006/main">
              <a:ext uri="{FF2B5EF4-FFF2-40B4-BE49-F238E27FC236}">
                <a16:creationId xmlns:a16="http://schemas.microsoft.com/office/drawing/2014/main" id="{9E437601-B3DB-4D0D-A833-F6A42D56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31C23"/>
          </a:solidFill>
          <a:ln xmlns:a="http://schemas.openxmlformats.org/drawingml/2006/main" w="19050">
            <a:solidFill>
              <a:srgbClr val="8AFFAD"/>
            </a:solidFill>
            <a:prstDash val="solid"/>
          </a:ln>
        </p:spPr>
      </p:sp>
      <p:sp>
        <p:nvSpPr>
          <p:cNvPr id="8" name="destination-boundary">
            <a:extLst xmlns:a="http://schemas.openxmlformats.org/drawingml/2006/main">
              <a:ext uri="{FF2B5EF4-FFF2-40B4-BE49-F238E27FC236}">
                <a16:creationId xmlns:a16="http://schemas.microsoft.com/office/drawing/2014/main" id="{300620D3-79A0-41DF-AC61-91627959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33625"/>
            <a:ext cx="3143250" cy="2333625"/>
          </a:xfrm>
          <a:prstGeom xmlns:a="http://schemas.openxmlformats.org/drawingml/2006/main" prst="roundRect">
            <a:avLst>
              <a:gd name="adj" fmla="val 7347"/>
            </a:avLst>
          </a:prstGeom>
          <a:solidFill xmlns:a="http://schemas.openxmlformats.org/drawingml/2006/main">
            <a:srgbClr val="10161B"/>
          </a:solidFill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cxnSp>
        <p:nvCxnSpPr>
          <p:cNvPr id="10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19550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cxnSp>
        <p:nvCxnSpPr>
          <p:cNvPr id="10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667625" y="3500438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8AFFAD"/>
            </a:solidFill>
            <a:prstDash val="solid"/>
            <a:tailEnd type="arrow" w="sm" len="sm"/>
          </a:ln>
        </p:spPr>
      </p:cxnSp>
      <p:sp>
        <p:nvSpPr>
          <p:cNvPr id="11" name="origin-title">
            <a:extLst xmlns:a="http://schemas.openxmlformats.org/drawingml/2006/main">
              <a:ext uri="{FF2B5EF4-FFF2-40B4-BE49-F238E27FC236}">
                <a16:creationId xmlns:a16="http://schemas.microsoft.com/office/drawing/2014/main" id="{5706F5C7-8574-4918-BE0A-FF696914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UNISWAP v4</a:t>
            </a:r>
          </a:p>
        </p:txBody>
      </p:sp>
      <p:sp>
        <p:nvSpPr>
          <p:cNvPr id="12" name="origin-body">
            <a:extLst xmlns:a="http://schemas.openxmlformats.org/drawingml/2006/main">
              <a:ext uri="{FF2B5EF4-FFF2-40B4-BE49-F238E27FC236}">
                <a16:creationId xmlns:a16="http://schemas.microsoft.com/office/drawing/2014/main" id="{5F1D3AA2-2D39-4254-AC23-B56D58B0B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Escrow surcharge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Create pending trade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Emit MarkoutRequested</a:t>
            </a:r>
          </a:p>
        </p:txBody>
      </p:sp>
      <p:sp>
        <p:nvSpPr>
          <p:cNvPr id="13" name="reactive-title">
            <a:extLst xmlns:a="http://schemas.openxmlformats.org/drawingml/2006/main">
              <a:ext uri="{FF2B5EF4-FFF2-40B4-BE49-F238E27FC236}">
                <a16:creationId xmlns:a16="http://schemas.microsoft.com/office/drawing/2014/main" id="{456F835E-1873-4FF0-8156-A86642F6A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8AFFAD"/>
                </a:solidFill>
              </a:defRPr>
            </a:pPr>
            <a:r>
              <a:rPr sz="1725" b="1">
                <a:solidFill>
                  <a:srgbClr val="8AFFAD"/>
                </a:solidFill>
              </a:rPr>
              <a:t>TRANSPORTS</a:t>
            </a:r>
          </a:p>
        </p:txBody>
      </p:sp>
      <p:sp>
        <p:nvSpPr>
          <p:cNvPr id="14" name="reactive-body">
            <a:extLst xmlns:a="http://schemas.openxmlformats.org/drawingml/2006/main">
              <a:ext uri="{FF2B5EF4-FFF2-40B4-BE49-F238E27FC236}">
                <a16:creationId xmlns:a16="http://schemas.microsoft.com/office/drawing/2014/main" id="{1652FCC6-DEBF-4441-971E-16D572B13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Pyth verifies price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Circle carries primary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Reactive mirrors event</a:t>
            </a:r>
          </a:p>
        </p:txBody>
      </p:sp>
      <p:sp>
        <p:nvSpPr>
          <p:cNvPr id="15" name="destination-title">
            <a:extLst xmlns:a="http://schemas.openxmlformats.org/drawingml/2006/main">
              <a:ext uri="{FF2B5EF4-FFF2-40B4-BE49-F238E27FC236}">
                <a16:creationId xmlns:a16="http://schemas.microsoft.com/office/drawing/2014/main" id="{F44B3302-7732-4FCB-B819-DE0DF4FB9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609850"/>
            <a:ext cx="2571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725" b="1">
                <a:solidFill>
                  <a:srgbClr val="F4F1E8"/>
                </a:solidFill>
              </a:defRPr>
            </a:pPr>
            <a:r>
              <a:rPr sz="1725" b="1">
                <a:solidFill>
                  <a:srgbClr val="F4F1E8"/>
                </a:solidFill>
              </a:rPr>
              <a:t>COORDINATOR</a:t>
            </a:r>
          </a:p>
        </p:txBody>
      </p:sp>
      <p:sp>
        <p:nvSpPr>
          <p:cNvPr id="16" name="destination-body">
            <a:extLst xmlns:a="http://schemas.openxmlformats.org/drawingml/2006/main">
              <a:ext uri="{FF2B5EF4-FFF2-40B4-BE49-F238E27FC236}">
                <a16:creationId xmlns:a16="http://schemas.microsoft.com/office/drawing/2014/main" id="{6F62BBAC-07BB-4222-A711-58EC89A81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143250"/>
            <a:ext cx="2571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Authenticate sources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First valid delivery wins</a:t>
            </a:r>
          </a:p>
          <a:p xmlns:a="http://schemas.openxmlformats.org/drawingml/2006/main">
            <a:pPr>
              <a:buNone/>
              <a:defRPr sz="1425">
                <a:solidFill>
                  <a:srgbClr val="9CA9B5"/>
                </a:solidFill>
              </a:defRPr>
            </a:pPr>
            <a:r>
              <a:rPr sz="1425">
                <a:solidFill>
                  <a:srgbClr val="9CA9B5"/>
                </a:solidFill>
              </a:rPr>
              <a:t>Hook settles or expires</a:t>
            </a:r>
          </a:p>
        </p:txBody>
      </p:sp>
      <p:sp>
        <p:nvSpPr>
          <p:cNvPr id="17" name="slide-7-close">
            <a:extLst xmlns:a="http://schemas.openxmlformats.org/drawingml/2006/main">
              <a:ext uri="{FF2B5EF4-FFF2-40B4-BE49-F238E27FC236}">
                <a16:creationId xmlns:a16="http://schemas.microsoft.com/office/drawing/2014/main" id="{8249B4A1-360A-46EA-9535-28E7527C9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191125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8AFFAD"/>
                </a:solidFill>
              </a:defRPr>
            </a:pPr>
            <a:r>
              <a:rPr sz="2100" b="1">
                <a:solidFill>
                  <a:srgbClr val="8AFFAD"/>
                </a:solidFill>
              </a:rPr>
              <a:t>At-least-once delivery. Exactly-once economics.</a:t>
            </a:r>
          </a:p>
        </p:txBody>
      </p:sp>
    </p:spTree>
    <p:extLst>
      <p:ext uri="{BB962C8B-B14F-4D97-AF65-F5344CB8AC3E}">
        <p14:creationId xmlns:p14="http://schemas.microsoft.com/office/powerpoint/2010/main" val="19018013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eyebrow-8">
            <a:extLst xmlns:a="http://schemas.openxmlformats.org/drawingml/2006/main">
              <a:ext uri="{FF2B5EF4-FFF2-40B4-BE49-F238E27FC236}">
                <a16:creationId xmlns:a16="http://schemas.microsoft.com/office/drawing/2014/main" id="{6CB0B761-5A05-492F-AFC5-06A43F2FD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PROOF</a:t>
            </a:r>
          </a:p>
        </p:txBody>
      </p:sp>
      <p:sp>
        <p:nvSpPr>
          <p:cNvPr id="2" name="footer-8">
            <a:extLst xmlns:a="http://schemas.openxmlformats.org/drawingml/2006/main">
              <a:ext uri="{FF2B5EF4-FFF2-40B4-BE49-F238E27FC236}">
                <a16:creationId xmlns:a16="http://schemas.microsoft.com/office/drawing/2014/main" id="{52110BE6-3D4C-4A78-AF70-790F89B2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8 / 9</a:t>
            </a:r>
          </a:p>
        </p:txBody>
      </p:sp>
      <p:sp>
        <p:nvSpPr>
          <p:cNvPr id="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9E3781E1-09DD-44F6-9FFB-E3E167901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8-title">
            <a:extLst xmlns:a="http://schemas.openxmlformats.org/drawingml/2006/main">
              <a:ext uri="{FF2B5EF4-FFF2-40B4-BE49-F238E27FC236}">
                <a16:creationId xmlns:a16="http://schemas.microsoft.com/office/drawing/2014/main" id="{C1DA3A37-CA35-47C1-98E8-27D466E97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4F1E8"/>
                </a:solidFill>
              </a:defRPr>
            </a:pPr>
            <a:r>
              <a:rPr sz="2850" b="1">
                <a:solidFill>
                  <a:srgbClr val="F4F1E8"/>
                </a:solidFill>
              </a:rPr>
              <a:t>The prototype is hardened where it matters most.</a:t>
            </a:r>
          </a:p>
        </p:txBody>
      </p:sp>
      <p:sp>
        <p:nvSpPr>
          <p:cNvPr id="5" name="metric-line">
            <a:extLst xmlns:a="http://schemas.openxmlformats.org/drawingml/2006/main">
              <a:ext uri="{FF2B5EF4-FFF2-40B4-BE49-F238E27FC236}">
                <a16:creationId xmlns:a16="http://schemas.microsoft.com/office/drawing/2014/main" id="{22A93793-8A69-4C43-9177-C6B823FDA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1062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4414B"/>
            </a:solidFill>
            <a:prstDash val="solid"/>
          </a:ln>
        </p:spPr>
      </p:sp>
      <p:sp>
        <p:nvSpPr>
          <p:cNvPr id="6" name="proof-value-1">
            <a:extLst xmlns:a="http://schemas.openxmlformats.org/drawingml/2006/main">
              <a:ext uri="{FF2B5EF4-FFF2-40B4-BE49-F238E27FC236}">
                <a16:creationId xmlns:a16="http://schemas.microsoft.com/office/drawing/2014/main" id="{7AD3A3A9-62C3-4DCA-B828-6F4D9B1EC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186</a:t>
            </a:r>
          </a:p>
        </p:txBody>
      </p:sp>
      <p:sp>
        <p:nvSpPr>
          <p:cNvPr id="7" name="proof-label-1">
            <a:extLst xmlns:a="http://schemas.openxmlformats.org/drawingml/2006/main">
              <a:ext uri="{FF2B5EF4-FFF2-40B4-BE49-F238E27FC236}">
                <a16:creationId xmlns:a16="http://schemas.microsoft.com/office/drawing/2014/main" id="{1B656049-F534-4437-BFEA-0FB22AA49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deterministic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Solidity tests</a:t>
            </a:r>
          </a:p>
        </p:txBody>
      </p:sp>
      <p:sp>
        <p:nvSpPr>
          <p:cNvPr id="8" name="proof-value-2">
            <a:extLst xmlns:a="http://schemas.openxmlformats.org/drawingml/2006/main">
              <a:ext uri="{FF2B5EF4-FFF2-40B4-BE49-F238E27FC236}">
                <a16:creationId xmlns:a16="http://schemas.microsoft.com/office/drawing/2014/main" id="{D467C700-9EEC-40CD-8BF6-E9CD22A3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12</a:t>
            </a:r>
          </a:p>
        </p:txBody>
      </p:sp>
      <p:sp>
        <p:nvSpPr>
          <p:cNvPr id="9" name="proof-label-2">
            <a:extLst xmlns:a="http://schemas.openxmlformats.org/drawingml/2006/main">
              <a:ext uri="{FF2B5EF4-FFF2-40B4-BE49-F238E27FC236}">
                <a16:creationId xmlns:a16="http://schemas.microsoft.com/office/drawing/2014/main" id="{1690EE59-4AE9-4809-A2BD-69EBE832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stateful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invariants</a:t>
            </a:r>
          </a:p>
        </p:txBody>
      </p:sp>
      <p:sp>
        <p:nvSpPr>
          <p:cNvPr id="10" name="proof-value-3">
            <a:extLst xmlns:a="http://schemas.openxmlformats.org/drawingml/2006/main">
              <a:ext uri="{FF2B5EF4-FFF2-40B4-BE49-F238E27FC236}">
                <a16:creationId xmlns:a16="http://schemas.microsoft.com/office/drawing/2014/main" id="{E545DA8D-C554-4D6D-BD60-528C7BE0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0</a:t>
            </a:r>
          </a:p>
        </p:txBody>
      </p:sp>
      <p:sp>
        <p:nvSpPr>
          <p:cNvPr id="11" name="proof-label-3">
            <a:extLst xmlns:a="http://schemas.openxmlformats.org/drawingml/2006/main">
              <a:ext uri="{FF2B5EF4-FFF2-40B4-BE49-F238E27FC236}">
                <a16:creationId xmlns:a16="http://schemas.microsoft.com/office/drawing/2014/main" id="{8F388CD6-92E9-46DB-B3ED-BA4C9692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medium / high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Slither findings</a:t>
            </a:r>
          </a:p>
        </p:txBody>
      </p:sp>
      <p:sp>
        <p:nvSpPr>
          <p:cNvPr id="12" name="proof-value-4">
            <a:extLst xmlns:a="http://schemas.openxmlformats.org/drawingml/2006/main">
              <a:ext uri="{FF2B5EF4-FFF2-40B4-BE49-F238E27FC236}">
                <a16:creationId xmlns:a16="http://schemas.microsoft.com/office/drawing/2014/main" id="{B22CF356-12D9-4DE8-930A-1881E848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2238375"/>
            <a:ext cx="2190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800" b="1">
                <a:solidFill>
                  <a:srgbClr val="F4F1E8"/>
                </a:solidFill>
              </a:defRPr>
            </a:pPr>
            <a:r>
              <a:rPr sz="4800" b="1">
                <a:solidFill>
                  <a:srgbClr val="F4F1E8"/>
                </a:solidFill>
              </a:rPr>
              <a:t>768</a:t>
            </a:r>
          </a:p>
        </p:txBody>
      </p:sp>
      <p:sp>
        <p:nvSpPr>
          <p:cNvPr id="13" name="proof-label-4">
            <a:extLst xmlns:a="http://schemas.openxmlformats.org/drawingml/2006/main">
              <a:ext uri="{FF2B5EF4-FFF2-40B4-BE49-F238E27FC236}">
                <a16:creationId xmlns:a16="http://schemas.microsoft.com/office/drawing/2014/main" id="{CAEBCBB7-F681-4C17-A5D5-BCAB1EA19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762375"/>
            <a:ext cx="21907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trades on one</a:t>
            </a:r>
          </a:p>
          <a:p xmlns:a="http://schemas.openxmlformats.org/drawingml/2006/main">
            <a:pPr algn="ctr">
              <a:buNone/>
              <a:defRPr sz="1500">
                <a:solidFill>
                  <a:srgbClr val="9CA9B5"/>
                </a:solidFill>
              </a:defRPr>
            </a:pPr>
            <a:r>
              <a:rPr sz="1500">
                <a:solidFill>
                  <a:srgbClr val="9CA9B5"/>
                </a:solidFill>
              </a:rPr>
              <a:t>seeded tape</a:t>
            </a:r>
          </a:p>
        </p:txBody>
      </p:sp>
      <p:sp>
        <p:nvSpPr>
          <p:cNvPr id="14" name="slide-8-boundary">
            <a:extLst xmlns:a="http://schemas.openxmlformats.org/drawingml/2006/main">
              <a:ext uri="{FF2B5EF4-FFF2-40B4-BE49-F238E27FC236}">
                <a16:creationId xmlns:a16="http://schemas.microsoft.com/office/drawing/2014/main" id="{78EDD1E7-7374-49E5-B084-62FBE8A86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286375"/>
            <a:ext cx="895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8AFFAD"/>
                </a:solidFill>
              </a:defRPr>
            </a:pPr>
            <a:r>
              <a:rPr sz="1575" b="1">
                <a:solidFill>
                  <a:srgbClr val="8AFFAD"/>
                </a:solidFill>
              </a:rPr>
              <a:t>Security review ≠ independent audit · synthetic evidence ≠ forecast</a:t>
            </a:r>
          </a:p>
        </p:txBody>
      </p:sp>
    </p:spTree>
    <p:extLst>
      <p:ext uri="{BB962C8B-B14F-4D97-AF65-F5344CB8AC3E}">
        <p14:creationId xmlns:p14="http://schemas.microsoft.com/office/powerpoint/2010/main" val="13086479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0B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eyebrow-9">
            <a:extLst xmlns:a="http://schemas.openxmlformats.org/drawingml/2006/main">
              <a:ext uri="{FF2B5EF4-FFF2-40B4-BE49-F238E27FC236}">
                <a16:creationId xmlns:a16="http://schemas.microsoft.com/office/drawing/2014/main" id="{975D24E6-D13A-4CDC-8621-D4FB7CAB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8AFFAD"/>
                </a:solidFill>
              </a:defRPr>
            </a:pPr>
            <a:r>
              <a:rPr sz="1050" b="1">
                <a:solidFill>
                  <a:srgbClr val="8AFFAD"/>
                </a:solidFill>
              </a:rPr>
              <a:t>CLOSE</a:t>
            </a:r>
          </a:p>
        </p:txBody>
      </p:sp>
      <p:sp>
        <p:nvSpPr>
          <p:cNvPr id="2" name="footer-9">
            <a:extLst xmlns:a="http://schemas.openxmlformats.org/drawingml/2006/main">
              <a:ext uri="{FF2B5EF4-FFF2-40B4-BE49-F238E27FC236}">
                <a16:creationId xmlns:a16="http://schemas.microsoft.com/office/drawing/2014/main" id="{23B1C602-F705-4D29-BFA3-2A87814BD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>
                <a:solidFill>
                  <a:srgbClr val="9CA9B5"/>
                </a:solidFill>
              </a:defRPr>
            </a:pPr>
            <a:r>
              <a:rPr sz="900">
                <a:solidFill>
                  <a:srgbClr val="9CA9B5"/>
                </a:solidFill>
              </a:rPr>
              <a:t>MARKOUT · UHI10                                      9 / 9</a:t>
            </a:r>
          </a:p>
        </p:txBody>
      </p:sp>
      <p:sp>
        <p:nvSpPr>
          <p:cNvPr id="3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56CB6FB0-DF72-4C8E-9518-33F9E2DB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4414B"/>
            </a:solidFill>
            <a:prstDash val="solid"/>
          </a:ln>
        </p:spPr>
      </p:sp>
      <p:sp>
        <p:nvSpPr>
          <p:cNvPr id="4" name="slide-9-kicker">
            <a:extLst xmlns:a="http://schemas.openxmlformats.org/drawingml/2006/main">
              <a:ext uri="{FF2B5EF4-FFF2-40B4-BE49-F238E27FC236}">
                <a16:creationId xmlns:a16="http://schemas.microsoft.com/office/drawing/2014/main" id="{6FDFC546-49DB-467D-A497-A1E44D5AB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57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4800" b="1">
                <a:solidFill>
                  <a:srgbClr val="8AFFAD"/>
                </a:solidFill>
              </a:defRPr>
            </a:pPr>
            <a:r>
              <a:rPr sz="4800" b="1">
                <a:solidFill>
                  <a:srgbClr val="8AFFAD"/>
                </a:solidFill>
              </a:rPr>
              <a:t>PRICE THE OUTCOME.</a:t>
            </a:r>
          </a:p>
        </p:txBody>
      </p:sp>
      <p:sp>
        <p:nvSpPr>
          <p:cNvPr id="5" name="slide-9-title">
            <a:extLst xmlns:a="http://schemas.openxmlformats.org/drawingml/2006/main">
              <a:ext uri="{FF2B5EF4-FFF2-40B4-BE49-F238E27FC236}">
                <a16:creationId xmlns:a16="http://schemas.microsoft.com/office/drawing/2014/main" id="{6D7105F9-A44A-494C-8242-29F88FB8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81250"/>
            <a:ext cx="9810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4F1E8"/>
                </a:solidFill>
              </a:defRPr>
            </a:pPr>
            <a:r>
              <a:rPr sz="3000" b="1">
                <a:solidFill>
                  <a:srgbClr val="F4F1E8"/>
                </a:solidFill>
              </a:rPr>
              <a:t>MARKOUT turns LP protection from a prediction into a settlement.</a:t>
            </a:r>
          </a:p>
        </p:txBody>
      </p:sp>
      <p:sp>
        <p:nvSpPr>
          <p:cNvPr id="6" name="slide-9-rule">
            <a:extLst xmlns:a="http://schemas.openxmlformats.org/drawingml/2006/main">
              <a:ext uri="{FF2B5EF4-FFF2-40B4-BE49-F238E27FC236}">
                <a16:creationId xmlns:a16="http://schemas.microsoft.com/office/drawing/2014/main" id="{516F9F10-07F8-43E8-90D3-402B8EC0E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AFFAD"/>
            </a:solidFill>
            <a:prstDash val="solid"/>
          </a:ln>
        </p:spPr>
      </p:sp>
      <p:sp>
        <p:nvSpPr>
          <p:cNvPr id="7" name="slide-9-proof">
            <a:extLst xmlns:a="http://schemas.openxmlformats.org/drawingml/2006/main">
              <a:ext uri="{FF2B5EF4-FFF2-40B4-BE49-F238E27FC236}">
                <a16:creationId xmlns:a16="http://schemas.microsoft.com/office/drawing/2014/main" id="{A9EDEDDD-85D7-45EA-81AE-CAFA367B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7429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Negative markout settled in 38s → 100% rebated.</a:t>
            </a:r>
          </a:p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Positive markout settled in 67s → 100% retained.</a:t>
            </a:r>
          </a:p>
          <a:p xmlns:a="http://schemas.openxmlformats.org/drawingml/2006/main">
            <a:pPr>
              <a:buNone/>
              <a:defRPr sz="1800">
                <a:solidFill>
                  <a:srgbClr val="9CA9B5"/>
                </a:solidFill>
              </a:defRPr>
            </a:pPr>
            <a:r>
              <a:rPr sz="1800">
                <a:solidFill>
                  <a:srgbClr val="9CA9B5"/>
                </a:solidFill>
              </a:rPr>
              <a:t>Two public v4 trades prove both allocation extremes.</a:t>
            </a:r>
          </a:p>
        </p:txBody>
      </p:sp>
      <p:sp>
        <p:nvSpPr>
          <p:cNvPr id="8" name="slide-9-gate">
            <a:extLst xmlns:a="http://schemas.openxmlformats.org/drawingml/2006/main">
              <a:ext uri="{FF2B5EF4-FFF2-40B4-BE49-F238E27FC236}">
                <a16:creationId xmlns:a16="http://schemas.microsoft.com/office/drawing/2014/main" id="{A649709C-C6BF-4356-8BF8-304B91F4E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514850"/>
            <a:ext cx="3000375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650" b="1">
                <a:solidFill>
                  <a:srgbClr val="8AFFAD"/>
                </a:solidFill>
              </a:defRPr>
            </a:pPr>
            <a:r>
              <a:rPr sz="1650" b="1">
                <a:solidFill>
                  <a:srgbClr val="8AFFAD"/>
                </a:solidFill>
              </a:rPr>
              <a:t>100% REBATED
100% RETAINED</a:t>
            </a:r>
          </a:p>
        </p:txBody>
      </p:sp>
    </p:spTree>
    <p:extLst>
      <p:ext uri="{BB962C8B-B14F-4D97-AF65-F5344CB8AC3E}">
        <p14:creationId xmlns:p14="http://schemas.microsoft.com/office/powerpoint/2010/main" val="8046228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2026-08-21T11:56:53.6120000Z</dcterms:created>
  <dcterms:modified xsi:type="dcterms:W3CDTF">2026-08-21T11:56:53.6120000Z</dcterms:modified>
</coreProperties>
</file>