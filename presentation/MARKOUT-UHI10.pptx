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eca5da8a245b3" /><Relationship Type="http://schemas.openxmlformats.org/officeDocument/2006/relationships/extended-properties" Target="/docProps/app.xml" Id="R06442ed0f25a427c" /><Relationship Type="http://schemas.openxmlformats.org/officeDocument/2006/relationships/officeDocument" Target="/ppt/presentation.xml" Id="R2078b94eebcf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35acfb07bd49f0"/>
  </p:sldMasterIdLst>
  <p:notesMasterIdLst>
    <p:notesMasterId xmlns:r="http://schemas.openxmlformats.org/officeDocument/2006/relationships" r:id="R6bf16c4c8716497f"/>
  </p:notesMasterIdLst>
  <p:sldIdLst>
    <p:sldId xmlns:r="http://schemas.openxmlformats.org/officeDocument/2006/relationships" id="256" r:id="R7cd3860beb774475"/>
    <p:sldId xmlns:r="http://schemas.openxmlformats.org/officeDocument/2006/relationships" id="257" r:id="R3828237c4b004d58"/>
    <p:sldId xmlns:r="http://schemas.openxmlformats.org/officeDocument/2006/relationships" id="258" r:id="Rfa292dd5cf4543d7"/>
    <p:sldId xmlns:r="http://schemas.openxmlformats.org/officeDocument/2006/relationships" id="259" r:id="R83ce42693dc94855"/>
    <p:sldId xmlns:r="http://schemas.openxmlformats.org/officeDocument/2006/relationships" id="260" r:id="R5ceec3648ca34b27"/>
    <p:sldId xmlns:r="http://schemas.openxmlformats.org/officeDocument/2006/relationships" id="261" r:id="R419013085ea64d58"/>
    <p:sldId xmlns:r="http://schemas.openxmlformats.org/officeDocument/2006/relationships" id="262" r:id="Rd5cefdbf35544c12"/>
    <p:sldId xmlns:r="http://schemas.openxmlformats.org/officeDocument/2006/relationships" id="263" r:id="Rd8aacc56100f4be5"/>
    <p:sldId xmlns:r="http://schemas.openxmlformats.org/officeDocument/2006/relationships" id="264" r:id="R28ff113b2cf64e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66790c2964684" /><Relationship Type="http://schemas.openxmlformats.org/officeDocument/2006/relationships/slideMaster" Target="/ppt/slideMasters/slideMaster1.xml" Id="Rf835acfb07bd49f0" /><Relationship Type="http://schemas.openxmlformats.org/officeDocument/2006/relationships/notesMaster" Target="/ppt/notesMasters/notesMaster1.xml" Id="R6bf16c4c8716497f" /><Relationship Type="http://schemas.openxmlformats.org/officeDocument/2006/relationships/presProps" Target="/ppt/presProps.xml" Id="R6b2e5f4ff1354170" /><Relationship Type="http://schemas.openxmlformats.org/officeDocument/2006/relationships/tableStyles" Target="/ppt/tableStyles.xml" Id="R7d69a9a9412c4d31" /><Relationship Type="http://schemas.openxmlformats.org/officeDocument/2006/relationships/slide" Target="/ppt/slides/slide1.xml" Id="R7cd3860beb774475" /><Relationship Type="http://schemas.openxmlformats.org/officeDocument/2006/relationships/slide" Target="/ppt/slides/slide2.xml" Id="R3828237c4b004d58" /><Relationship Type="http://schemas.openxmlformats.org/officeDocument/2006/relationships/slide" Target="/ppt/slides/slide3.xml" Id="Rfa292dd5cf4543d7" /><Relationship Type="http://schemas.openxmlformats.org/officeDocument/2006/relationships/slide" Target="/ppt/slides/slide4.xml" Id="R83ce42693dc94855" /><Relationship Type="http://schemas.openxmlformats.org/officeDocument/2006/relationships/slide" Target="/ppt/slides/slide5.xml" Id="R5ceec3648ca34b27" /><Relationship Type="http://schemas.openxmlformats.org/officeDocument/2006/relationships/slide" Target="/ppt/slides/slide6.xml" Id="R419013085ea64d58" /><Relationship Type="http://schemas.openxmlformats.org/officeDocument/2006/relationships/slide" Target="/ppt/slides/slide7.xml" Id="Rd5cefdbf35544c12" /><Relationship Type="http://schemas.openxmlformats.org/officeDocument/2006/relationships/slide" Target="/ppt/slides/slide8.xml" Id="Rd8aacc56100f4be5" /><Relationship Type="http://schemas.openxmlformats.org/officeDocument/2006/relationships/slide" Target="/ppt/slides/slide9.xml" Id="R28ff113b2cf64e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3fcf6c7c546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8b0178ec4640aa" /><Relationship Type="http://schemas.openxmlformats.org/officeDocument/2006/relationships/notesMaster" Target="/ppt/notesMasters/notesMaster1.xml" Id="R516ce73bc9864b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3c6c7903ab427d" /><Relationship Type="http://schemas.openxmlformats.org/officeDocument/2006/relationships/notesMaster" Target="/ppt/notesMasters/notesMaster1.xml" Id="R39bb9e2f1e1b46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a3bd8a1ebe4bd3" /><Relationship Type="http://schemas.openxmlformats.org/officeDocument/2006/relationships/notesMaster" Target="/ppt/notesMasters/notesMaster1.xml" Id="Radf1b7480b86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55c611b2204816" /><Relationship Type="http://schemas.openxmlformats.org/officeDocument/2006/relationships/notesMaster" Target="/ppt/notesMasters/notesMaster1.xml" Id="R63d7aa373018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260b22bd84a7f" /><Relationship Type="http://schemas.openxmlformats.org/officeDocument/2006/relationships/notesMaster" Target="/ppt/notesMasters/notesMaster1.xml" Id="R57989aea97aa43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f18e4955c84e4a" /><Relationship Type="http://schemas.openxmlformats.org/officeDocument/2006/relationships/notesMaster" Target="/ppt/notesMasters/notesMaster1.xml" Id="Rd487f01cf66640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9d2bbd754e47f6" /><Relationship Type="http://schemas.openxmlformats.org/officeDocument/2006/relationships/notesMaster" Target="/ppt/notesMasters/notesMaster1.xml" Id="Rc2d503d5ec1f4e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da53341e314b35" /><Relationship Type="http://schemas.openxmlformats.org/officeDocument/2006/relationships/notesMaster" Target="/ppt/notesMasters/notesMaster1.xml" Id="R72c028a5fe6849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35fbcf91414a95" /><Relationship Type="http://schemas.openxmlformats.org/officeDocument/2006/relationships/notesMaster" Target="/ppt/notesMasters/notesMaster1.xml" Id="Rb88ad506cbb44c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question: can an AMM wait for the outcome before deciding how much protection to retain?</a:t>
            </a:r>
          </a:p>
          <a:p xmlns:a="http://schemas.openxmlformats.org/drawingml/2006/main">
            <a:r>
              <a:t>Frame Reactive Network as the primary event-to-action layer. Unichain retains custody, validation, and final accounting.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docs/HYBRID_SETTLEMENT.md</a:t>
            </a:r>
          </a:p>
          <a:p xmlns:a="http://schemas.openxmlformats.org/drawingml/2006/main">
            <a:r>
              <a:t>- deployments/reactive-legacy-2026-08-26.json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volatility is useful but cannot attribute information content to an individual realized trade.</a:t>
            </a:r>
          </a:p>
          <a:p xmlns:a="http://schemas.openxmlformats.org/drawingml/2006/main">
            <a:r>
              <a:t>MARKOUT does not predict intent or blacklist a trader; it observes a directional price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docs/MECHANISM.md</a:t>
            </a:r>
          </a:p>
          <a:p xmlns:a="http://schemas.openxmlformats.org/drawingml/2006/main">
            <a:r>
              <a:t>- experiments/README.md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publisher verifies Pyth, and the hook still applies the frozen curve after authenticated delivery.</a:t>
            </a:r>
          </a:p>
          <a:p xmlns:a="http://schemas.openxmlformats.org/drawingml/2006/main">
            <a:r>
              <a:t>Emphasize conservation and the fail-open expiry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docs/MECHANISM.md</a:t>
            </a:r>
          </a:p>
          <a:p xmlns:a="http://schemas.openxmlformats.org/drawingml/2006/main">
            <a:r>
              <a:t>- docs/ACCOUNTING.md</a:t>
            </a:r>
          </a:p>
          <a:p xmlns:a="http://schemas.openxmlformats.org/drawingml/2006/main">
            <a:r>
              <a:t>- docs/HYBRID_SETTLEMENT.md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informed bar first: MARKOUT retains the most only where the markout is adverse.</a:t>
            </a:r>
          </a:p>
          <a:p xmlns:a="http://schemas.openxmlformats.org/drawingml/2006/main">
            <a:r>
              <a:t>Then compare benign and inventory-improving flow against the volatility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experiments/charts/effective_fee_by_flow.svg</a:t>
            </a:r>
          </a:p>
          <a:p xmlns:a="http://schemas.openxmlformats.org/drawingml/2006/main">
            <a:r>
              <a:t>- experiments/results/flow_summary.csv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policy receives the same seeded 768-trade tape, so the comparison isolates fee allocation.</a:t>
            </a:r>
          </a:p>
          <a:p xmlns:a="http://schemas.openxmlformats.org/drawingml/2006/main">
            <a:r>
              <a:t>State the regression clearly: the volatility baseline earns more overall because it charges benign and inventory-improving flow more.</a:t>
            </a:r>
          </a:p>
          <a:p xmlns:a="http://schemas.openxmlformats.org/drawingml/2006/main">
            <a:r>
              <a:t>The proxy is not exact LVR or individual LP PnL.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experiments/charts/lp_net_after_proxy.svg</a:t>
            </a:r>
          </a:p>
          <a:p xmlns:a="http://schemas.openxmlformats.org/drawingml/2006/main">
            <a:r>
              <a:t>- experiments/results/report.md</a:t>
            </a:r>
          </a:p>
          <a:p xmlns:a="http://schemas.openxmlformats.org/drawingml/2006/main">
            <a:r>
              <a:t>- https://arxiv.org/abs/2208.06046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chart to the hook invariant: pending, claimable, and reserve balances always reconcile with held assets.</a:t>
            </a:r>
          </a:p>
          <a:p xmlns:a="http://schemas.openxmlformats.org/drawingml/2006/main">
            <a:r>
              <a:t>The 63 invalid observations are not forced into LP protection; they fail open to a full rebate.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experiments/charts/markout_rebate_and_protection.svg</a:t>
            </a:r>
          </a:p>
          <a:p xmlns:a="http://schemas.openxmlformats.org/drawingml/2006/main">
            <a:r>
              <a:t>- experiments/results/report.md</a:t>
            </a:r>
          </a:p>
          <a:p xmlns:a="http://schemas.openxmlformats.org/drawingml/2006/main">
            <a:r>
              <a:t>- docs/ACCOUNTING.md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 publishes one canonical delayed observation on Ethereum Sepolia.</a:t>
            </a:r>
          </a:p>
          <a:p xmlns:a="http://schemas.openxmlformats.org/drawingml/2006/main">
            <a:r>
              <a:t>The deployed Legacy Reactive pulse subscribes to the exact publisher, event signature, and market topic.</a:t>
            </a:r>
          </a:p>
          <a:p xmlns:a="http://schemas.openxmlformats.org/drawingml/2006/main">
            <a:r>
              <a:t>ReactVM validates and encodes the authenticated callback to the immutable Unichain receiver.</a:t>
            </a:r>
          </a:p>
          <a:p xmlns:a="http://schemas.openxmlformats.org/drawingml/2006/main">
            <a:r>
              <a:t>Reactive initiates the cross-chain action but cannot create a price, choose a fee, redirect a rebate, or touch escrow.</a:t>
            </a:r>
          </a:p>
          <a:p xmlns:a="http://schemas.openxmlformats.org/drawingml/2006/main">
            <a:r>
              <a:t>The hook revalidates every economic input and finalizes exactly once; permissionless expiry returns the full provisional amount if delivery is unavailable.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docs/HYBRID_SETTLEMENT.md</a:t>
            </a:r>
          </a:p>
          <a:p xmlns:a="http://schemas.openxmlformats.org/drawingml/2006/main">
            <a:r>
              <a:t>- docs/THREAT_MODEL.md</a:t>
            </a:r>
          </a:p>
          <a:p xmlns:a="http://schemas.openxmlformats.org/drawingml/2006/main">
            <a:r>
              <a:t>- deployments/reactive-legacy-2026-08-26.json</a:t>
            </a:r>
          </a:p>
          <a:p xmlns:a="http://schemas.openxmlformats.org/drawingml/2006/main">
            <a:r>
              <a:t>- https://sepolia.etherscan.io/tx/0x99c7110784fc9e39ff0db078be74e3995855172a4f9a8c565169373e1daa7c85</a:t>
            </a:r>
          </a:p>
          <a:p xmlns:a="http://schemas.openxmlformats.org/drawingml/2006/main">
            <a:r>
              <a:t>- https://sepolia.uniscan.xyz/tx/0x5d933d5ff078c500c61fc32fef1ae526049085dad8e15ff4ef2673a971114459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cumulative gate includes adversarial authorization, reentrancy, expiry, oracle failure, replay, transport races, and insolvency cases.</a:t>
            </a:r>
          </a:p>
          <a:p xmlns:a="http://schemas.openxmlformats.org/drawingml/2006/main">
            <a:r>
              <a:t>Keep the boundary explicit: this is production-shaped and internally hardened, not independently audited.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docs/PHASE_7_VERIFICATION.md</a:t>
            </a:r>
          </a:p>
          <a:p xmlns:a="http://schemas.openxmlformats.org/drawingml/2006/main">
            <a:r>
              <a:t>- docs/PHASE_11_VERIFICATION.md</a:t>
            </a:r>
          </a:p>
          <a:p xmlns:a="http://schemas.openxmlformats.org/drawingml/2006/main">
            <a:r>
              <a:t>- docs/PHASE_12_VERIFICATION.md</a:t>
            </a:r>
          </a:p>
          <a:p xmlns:a="http://schemas.openxmlformats.org/drawingml/2006/main">
            <a:r>
              <a:t>- docs/PHASE_13_VERIFICATION.md</a:t>
            </a:r>
          </a:p>
          <a:p xmlns:a="http://schemas.openxmlformats.org/drawingml/2006/main">
            <a:r>
              <a:t>- docs/STATIC_ANALYSIS.md</a:t>
            </a:r>
          </a:p>
          <a:p xmlns:a="http://schemas.openxmlformats.org/drawingml/2006/main">
            <a:r>
              <a:t>- experiments/results/report.md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opening: MARKOUT does not predict identity before execution; it settles what the post-trade outcome supports.</a:t>
            </a:r>
          </a:p>
          <a:p xmlns:a="http://schemas.openxmlformats.org/drawingml/2006/main">
            <a:r>
              <a:t>Historical economic proof demonstrates both allocation extremes: full provisional rebate after negative markout and full LP retention after positive markout.</a:t>
            </a:r>
          </a:p>
          <a:p xmlns:a="http://schemas.openxmlformats.org/drawingml/2006/main">
            <a:r>
              <a:t>Reactive proof: a canonical Ethereum Sepolia publisher event executed in ReactVM and completed an authenticated Unichain callback in 11 seconds.</a:t>
            </a:r>
          </a:p>
          <a:p xmlns:a="http://schemas.openxmlformats.org/drawingml/2006/main">
            <a:r>
              <a:t>That callback reached an already-terminal trade and was handled as a safe no-op, so it proves Reactive transport and replay safety rather than a pending-first economic allocation.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deployments/hybrid-2026-08-21.json</a:t>
            </a:r>
          </a:p>
          <a:p xmlns:a="http://schemas.openxmlformats.org/drawingml/2006/main">
            <a:r>
              <a:t>- deployments/reactive-legacy-2026-08-26.json</a:t>
            </a:r>
          </a:p>
          <a:p xmlns:a="http://schemas.openxmlformats.org/drawingml/2006/main">
            <a:r>
              <a:t>- https://sepolia.etherscan.io/tx/0x99c7110784fc9e39ff0db078be74e3995855172a4f9a8c565169373e1daa7c85</a:t>
            </a:r>
          </a:p>
          <a:p xmlns:a="http://schemas.openxmlformats.org/drawingml/2006/main">
            <a:r>
              <a:t>- https://sepolia.uniscan.xyz/tx/0x5d933d5ff078c500c61fc32fef1ae526049085dad8e15ff4ef2673a971114459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a4693fd864b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64d00953f47d1" /><Relationship Type="http://schemas.openxmlformats.org/officeDocument/2006/relationships/slideLayout" Target="/ppt/slideLayouts/slideLayout1.xml" Id="R64d2c555bfd245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2c555bfd245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bcab3db654d2f" /><Relationship Type="http://schemas.openxmlformats.org/officeDocument/2006/relationships/image" Target="/ppt/media/image.png" Id="R67a237537f9b40e0" /><Relationship Type="http://schemas.openxmlformats.org/officeDocument/2006/relationships/notesSlide" Target="/ppt/notesSlides/notesSlide1.xml" Id="Rac4f669368624f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c6597053044a3" /><Relationship Type="http://schemas.openxmlformats.org/officeDocument/2006/relationships/notesSlide" Target="/ppt/notesSlides/notesSlide2.xml" Id="Rc6da64bc7595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0ecf1cc454ee1" /><Relationship Type="http://schemas.openxmlformats.org/officeDocument/2006/relationships/notesSlide" Target="/ppt/notesSlides/notesSlide3.xml" Id="R27ede6d1baf543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38f4f3c64da4" /><Relationship Type="http://schemas.openxmlformats.org/officeDocument/2006/relationships/image" Target="/ppt/media/image2.png" Id="Rffc8d468127b47e8" /><Relationship Type="http://schemas.openxmlformats.org/officeDocument/2006/relationships/notesSlide" Target="/ppt/notesSlides/notesSlide4.xml" Id="R0ad30a81202c44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d2f85d4fa43d6" /><Relationship Type="http://schemas.openxmlformats.org/officeDocument/2006/relationships/image" Target="/ppt/media/image3.png" Id="Rd69cbcc0d5ed4f9f" /><Relationship Type="http://schemas.openxmlformats.org/officeDocument/2006/relationships/notesSlide" Target="/ppt/notesSlides/notesSlide5.xml" Id="R70c17ff2fccf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aafcc07d4512" /><Relationship Type="http://schemas.openxmlformats.org/officeDocument/2006/relationships/image" Target="/ppt/media/image4.png" Id="Rd853a5720b254e65" /><Relationship Type="http://schemas.openxmlformats.org/officeDocument/2006/relationships/notesSlide" Target="/ppt/notesSlides/notesSlide6.xml" Id="Rdc8a6e5112b2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364c753894619" /><Relationship Type="http://schemas.openxmlformats.org/officeDocument/2006/relationships/notesSlide" Target="/ppt/notesSlides/notesSlide7.xml" Id="R3e76f3e76e3d4b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d53ce39e44dc4" /><Relationship Type="http://schemas.openxmlformats.org/officeDocument/2006/relationships/notesSlide" Target="/ppt/notesSlides/notesSlide8.xml" Id="Rf6762e88bb7246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22b3dcdfc48a1" /><Relationship Type="http://schemas.openxmlformats.org/officeDocument/2006/relationships/notesSlide" Target="/ppt/notesSlides/notesSlide9.xml" Id="R1d3cd72259e142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237537f9b40e0"/>
          <a:stretch xmlns:a="http://schemas.openxmlformats.org/drawingml/2006/main"/>
        </p:blipFill>
        <p:spPr>
          <a:xfrm xmlns:a="http://schemas.openxmlformats.org/drawingml/2006/main">
            <a:off x="0" y="228600"/>
            <a:ext cx="12192000" cy="6400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27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">
            <a:extLst xmlns:a="http://schemas.openxmlformats.org/drawingml/2006/main">
              <a:ext uri="{FF2B5EF4-FFF2-40B4-BE49-F238E27FC236}">
                <a16:creationId xmlns:a16="http://schemas.microsoft.com/office/drawing/2014/main" id="{D2B1870E-0096-4B4A-9E19-8B4BC2A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THE GAP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1090B1E3-EB85-46DD-BB9F-C8EAE340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2 / 9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2D4EE01-FE0C-461B-97C2-D959BC5D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9D3CE18-2C7D-4F3C-AB84-8D060D5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Volatility sees risk. It does not see who caused it.</a:t>
            </a:r>
          </a:p>
        </p:txBody>
      </p:sp>
      <p:sp>
        <p:nvSpPr>
          <p:cNvPr id="5" name="volatility-label">
            <a:extLst xmlns:a="http://schemas.openxmlformats.org/drawingml/2006/main">
              <a:ext uri="{FF2B5EF4-FFF2-40B4-BE49-F238E27FC236}">
                <a16:creationId xmlns:a16="http://schemas.microsoft.com/office/drawing/2014/main" id="{9041FBBC-1ED0-4F52-B5DF-9B2FD932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VOLATILITY FEE</a:t>
            </a:r>
          </a:p>
        </p:txBody>
      </p:sp>
      <p:sp>
        <p:nvSpPr>
          <p:cNvPr id="6" name="volatility-equation">
            <a:extLst xmlns:a="http://schemas.openxmlformats.org/drawingml/2006/main">
              <a:ext uri="{FF2B5EF4-FFF2-40B4-BE49-F238E27FC236}">
                <a16:creationId xmlns:a16="http://schemas.microsoft.com/office/drawing/2014/main" id="{F8C1EF9C-BA55-4D1F-8CAC-EADE6F8A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fee = f(market state)</a:t>
            </a:r>
          </a:p>
        </p:txBody>
      </p:sp>
      <p:sp>
        <p:nvSpPr>
          <p:cNvPr id="7" name="volatility-body">
            <a:extLst xmlns:a="http://schemas.openxmlformats.org/drawingml/2006/main">
              <a:ext uri="{FF2B5EF4-FFF2-40B4-BE49-F238E27FC236}">
                <a16:creationId xmlns:a16="http://schemas.microsoft.com/office/drawing/2014/main" id="{97F6F05A-342B-4711-9479-C8DFB85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CA9B5"/>
                </a:solidFill>
              </a:defRPr>
            </a:pPr>
            <a:r>
              <a:rPr sz="1575">
                <a:solidFill>
                  <a:srgbClr val="9CA9B5"/>
                </a:solidFill>
              </a:rPr>
              <a:t>Benign, informed, and inventory-improving flow can all pay more together.</a:t>
            </a:r>
          </a:p>
        </p:txBody>
      </p:sp>
      <p:sp>
        <p:nvSpPr>
          <p:cNvPr id="8" name="not-equal">
            <a:extLst xmlns:a="http://schemas.openxmlformats.org/drawingml/2006/main">
              <a:ext uri="{FF2B5EF4-FFF2-40B4-BE49-F238E27FC236}">
                <a16:creationId xmlns:a16="http://schemas.microsoft.com/office/drawing/2014/main" id="{7C4ACB42-53E0-4AB5-9209-C7301A12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67000"/>
            <a:ext cx="106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34414B"/>
                </a:solidFill>
              </a:defRPr>
            </a:pPr>
            <a:r>
              <a:rPr sz="4800" b="1">
                <a:solidFill>
                  <a:srgbClr val="34414B"/>
                </a:solidFill>
              </a:rPr>
              <a:t>≠</a:t>
            </a:r>
          </a:p>
        </p:txBody>
      </p:sp>
      <p:sp>
        <p:nvSpPr>
          <p:cNvPr id="9" name="markout-label">
            <a:extLst xmlns:a="http://schemas.openxmlformats.org/drawingml/2006/main">
              <a:ext uri="{FF2B5EF4-FFF2-40B4-BE49-F238E27FC236}">
                <a16:creationId xmlns:a16="http://schemas.microsoft.com/office/drawing/2014/main" id="{DD1C7131-1A2E-450C-BF5C-F58F7E6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MARKOUT</a:t>
            </a:r>
          </a:p>
        </p:txBody>
      </p:sp>
      <p:sp>
        <p:nvSpPr>
          <p:cNvPr id="10" name="markout-equation">
            <a:extLst xmlns:a="http://schemas.openxmlformats.org/drawingml/2006/main">
              <a:ext uri="{FF2B5EF4-FFF2-40B4-BE49-F238E27FC236}">
                <a16:creationId xmlns:a16="http://schemas.microsoft.com/office/drawing/2014/main" id="{44D10FA1-605A-4614-BFEA-65693B2A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4F1E8"/>
                </a:solidFill>
              </a:defRPr>
            </a:pPr>
            <a:r>
              <a:rPr sz="2700" b="1">
                <a:solidFill>
                  <a:srgbClr val="F4F1E8"/>
                </a:solidFill>
              </a:rPr>
              <a:t>fee = f(realized outcome)</a:t>
            </a:r>
          </a:p>
        </p:txBody>
      </p:sp>
      <p:sp>
        <p:nvSpPr>
          <p:cNvPr id="11" name="markout-body">
            <a:extLst xmlns:a="http://schemas.openxmlformats.org/drawingml/2006/main">
              <a:ext uri="{FF2B5EF4-FFF2-40B4-BE49-F238E27FC236}">
                <a16:creationId xmlns:a16="http://schemas.microsoft.com/office/drawing/2014/main" id="{1A0D12D6-CAEE-4D93-9707-A824CF91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CA9B5"/>
                </a:solidFill>
              </a:defRPr>
            </a:pPr>
            <a:r>
              <a:rPr sz="1575">
                <a:solidFill>
                  <a:srgbClr val="9CA9B5"/>
                </a:solidFill>
              </a:rPr>
              <a:t>The final allocation follows directional post-trade evidence—not wallet identity.</a:t>
            </a:r>
          </a:p>
        </p:txBody>
      </p:sp>
      <p:sp>
        <p:nvSpPr>
          <p:cNvPr id="12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F5E1F5FF-E286-4150-8B95-A80191F5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FFAD"/>
            </a:solidFill>
            <a:prstDash val="solid"/>
          </a:ln>
        </p:spPr>
      </p:sp>
      <p:sp>
        <p:nvSpPr>
          <p:cNvPr id="13" name="slide-2-close">
            <a:extLst xmlns:a="http://schemas.openxmlformats.org/drawingml/2006/main">
              <a:ext uri="{FF2B5EF4-FFF2-40B4-BE49-F238E27FC236}">
                <a16:creationId xmlns:a16="http://schemas.microsoft.com/office/drawing/2014/main" id="{F900E6FC-8DBB-4A14-BD67-431EACA2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8AFFAD"/>
                </a:solidFill>
              </a:defRPr>
            </a:pPr>
            <a:r>
              <a:rPr sz="2100" b="1">
                <a:solidFill>
                  <a:srgbClr val="8AFFAD"/>
                </a:solidFill>
              </a:rPr>
              <a:t>Classify the outcome, then settle the protection.</a:t>
            </a:r>
          </a:p>
        </p:txBody>
      </p:sp>
    </p:spTree>
    <p:extLst>
      <p:ext uri="{BB962C8B-B14F-4D97-AF65-F5344CB8AC3E}">
        <p14:creationId xmlns:p14="http://schemas.microsoft.com/office/powerpoint/2010/main" val="1335080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-3">
            <a:extLst xmlns:a="http://schemas.openxmlformats.org/drawingml/2006/main">
              <a:ext uri="{FF2B5EF4-FFF2-40B4-BE49-F238E27FC236}">
                <a16:creationId xmlns:a16="http://schemas.microsoft.com/office/drawing/2014/main" id="{9CCDC7BA-092C-4B0F-8B85-460A862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MECHANISM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EB5A8531-DDA4-4BF4-BE28-24CB2AA3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3 / 9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A723E011-5025-457B-97FA-04C6D247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BE9E8C8C-A3ED-48EF-89DF-F0D7A7F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MARKOUT prices flow after it reveals itself.</a:t>
            </a:r>
          </a:p>
        </p:txBody>
      </p:sp>
      <p:sp>
        <p:nvSpPr>
          <p:cNvPr id="5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7D3B8119-7463-4F5A-8AFB-1BDBCE3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CA9B5"/>
                </a:solidFill>
              </a:defRPr>
            </a:pPr>
            <a:r>
              <a:rPr sz="1575">
                <a:solidFill>
                  <a:srgbClr val="9CA9B5"/>
                </a:solidFill>
              </a:rPr>
              <a:t>A bounded provisional surcharge becomes either trader rebate or LP protection.</a:t>
            </a:r>
          </a:p>
        </p:txBody>
      </p:sp>
      <p:sp>
        <p:nvSpPr>
          <p:cNvPr id="6" name="mechanism-node-1">
            <a:extLst xmlns:a="http://schemas.openxmlformats.org/drawingml/2006/main">
              <a:ext uri="{FF2B5EF4-FFF2-40B4-BE49-F238E27FC236}">
                <a16:creationId xmlns:a16="http://schemas.microsoft.com/office/drawing/2014/main" id="{9042057C-744D-470F-949D-9B938B25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8669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7" name="mechanism-index-1">
            <a:extLst xmlns:a="http://schemas.openxmlformats.org/drawingml/2006/main">
              <a:ext uri="{FF2B5EF4-FFF2-40B4-BE49-F238E27FC236}">
                <a16:creationId xmlns:a16="http://schemas.microsoft.com/office/drawing/2014/main" id="{70EDDBF5-BE68-4DDB-BC1E-BAD5BD2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1</a:t>
            </a:r>
          </a:p>
        </p:txBody>
      </p:sp>
      <p:sp>
        <p:nvSpPr>
          <p:cNvPr id="8" name="mechanism-label-1">
            <a:extLst xmlns:a="http://schemas.openxmlformats.org/drawingml/2006/main">
              <a:ext uri="{FF2B5EF4-FFF2-40B4-BE49-F238E27FC236}">
                <a16:creationId xmlns:a16="http://schemas.microsoft.com/office/drawing/2014/main" id="{CF0A5C51-8F50-4831-9DF2-B3A7503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EXECUTE</a:t>
            </a:r>
          </a:p>
        </p:txBody>
      </p:sp>
      <p:sp>
        <p:nvSpPr>
          <p:cNvPr id="9" name="mechanism-body-1">
            <a:extLst xmlns:a="http://schemas.openxmlformats.org/drawingml/2006/main">
              <a:ext uri="{FF2B5EF4-FFF2-40B4-BE49-F238E27FC236}">
                <a16:creationId xmlns:a16="http://schemas.microsoft.com/office/drawing/2014/main" id="{0D92CFD0-92B1-4402-A35E-0D8050F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v4 swap collects</a:t>
            </a:r>
          </a:p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a bounded surcharge</a:t>
            </a:r>
          </a:p>
        </p:txBody>
      </p:sp>
      <p:sp>
        <p:nvSpPr>
          <p:cNvPr id="10" name="mechanism-node-2">
            <a:extLst xmlns:a="http://schemas.openxmlformats.org/drawingml/2006/main">
              <a:ext uri="{FF2B5EF4-FFF2-40B4-BE49-F238E27FC236}">
                <a16:creationId xmlns:a16="http://schemas.microsoft.com/office/drawing/2014/main" id="{0FA66BC1-BF04-4D6F-A838-4A07B464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8669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11" name="mechanism-index-2">
            <a:extLst xmlns:a="http://schemas.openxmlformats.org/drawingml/2006/main">
              <a:ext uri="{FF2B5EF4-FFF2-40B4-BE49-F238E27FC236}">
                <a16:creationId xmlns:a16="http://schemas.microsoft.com/office/drawing/2014/main" id="{789B9BB6-B941-4B5C-899D-4ED8D356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2</a:t>
            </a:r>
          </a:p>
        </p:txBody>
      </p:sp>
      <p:sp>
        <p:nvSpPr>
          <p:cNvPr id="12" name="mechanism-label-2">
            <a:extLst xmlns:a="http://schemas.openxmlformats.org/drawingml/2006/main">
              <a:ext uri="{FF2B5EF4-FFF2-40B4-BE49-F238E27FC236}">
                <a16:creationId xmlns:a16="http://schemas.microsoft.com/office/drawing/2014/main" id="{FBC4D72C-B0A6-41C9-AEFD-EBC7F33E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WAIT</a:t>
            </a:r>
          </a:p>
        </p:txBody>
      </p:sp>
      <p:sp>
        <p:nvSpPr>
          <p:cNvPr id="13" name="mechanism-body-2">
            <a:extLst xmlns:a="http://schemas.openxmlformats.org/drawingml/2006/main">
              <a:ext uri="{FF2B5EF4-FFF2-40B4-BE49-F238E27FC236}">
                <a16:creationId xmlns:a16="http://schemas.microsoft.com/office/drawing/2014/main" id="{FD6C40C8-C621-4F20-B8FC-D2C5E1D8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4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five-minute</a:t>
            </a:r>
          </a:p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maturity window</a:t>
            </a:r>
          </a:p>
        </p:txBody>
      </p:sp>
      <p:sp>
        <p:nvSpPr>
          <p:cNvPr id="14" name="mechanism-node-3">
            <a:extLst xmlns:a="http://schemas.openxmlformats.org/drawingml/2006/main">
              <a:ext uri="{FF2B5EF4-FFF2-40B4-BE49-F238E27FC236}">
                <a16:creationId xmlns:a16="http://schemas.microsoft.com/office/drawing/2014/main" id="{62271572-6AF7-45EF-A209-B2414FD7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71750"/>
            <a:ext cx="18669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15" name="mechanism-index-3">
            <a:extLst xmlns:a="http://schemas.openxmlformats.org/drawingml/2006/main">
              <a:ext uri="{FF2B5EF4-FFF2-40B4-BE49-F238E27FC236}">
                <a16:creationId xmlns:a16="http://schemas.microsoft.com/office/drawing/2014/main" id="{9A06B4AD-8FF1-499B-BFEC-DC253647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3</a:t>
            </a:r>
          </a:p>
        </p:txBody>
      </p:sp>
      <p:sp>
        <p:nvSpPr>
          <p:cNvPr id="16" name="mechanism-label-3">
            <a:extLst xmlns:a="http://schemas.openxmlformats.org/drawingml/2006/main">
              <a:ext uri="{FF2B5EF4-FFF2-40B4-BE49-F238E27FC236}">
                <a16:creationId xmlns:a16="http://schemas.microsoft.com/office/drawing/2014/main" id="{5F819087-DDED-4B72-9525-3D1228E6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OBSERVE</a:t>
            </a:r>
          </a:p>
        </p:txBody>
      </p:sp>
      <p:sp>
        <p:nvSpPr>
          <p:cNvPr id="17" name="mechanism-body-3">
            <a:extLst xmlns:a="http://schemas.openxmlformats.org/drawingml/2006/main">
              <a:ext uri="{FF2B5EF4-FFF2-40B4-BE49-F238E27FC236}">
                <a16:creationId xmlns:a16="http://schemas.microsoft.com/office/drawing/2014/main" id="{500D8A11-FC11-460C-810F-6A3D40A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14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Pyth-verified</a:t>
            </a:r>
          </a:p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price observation</a:t>
            </a:r>
          </a:p>
        </p:txBody>
      </p:sp>
      <p:sp>
        <p:nvSpPr>
          <p:cNvPr id="18" name="mechanism-node-4">
            <a:extLst xmlns:a="http://schemas.openxmlformats.org/drawingml/2006/main">
              <a:ext uri="{FF2B5EF4-FFF2-40B4-BE49-F238E27FC236}">
                <a16:creationId xmlns:a16="http://schemas.microsoft.com/office/drawing/2014/main" id="{1A9C931B-8D56-4C47-AACE-B2EC5E4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18669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1C23"/>
          </a:solidFill>
          <a:ln xmlns:a="http://schemas.openxmlformats.org/drawingml/2006/main" w="19050">
            <a:solidFill>
              <a:srgbClr val="8AFFAD"/>
            </a:solidFill>
            <a:prstDash val="solid"/>
          </a:ln>
        </p:spPr>
      </p:sp>
      <p:sp>
        <p:nvSpPr>
          <p:cNvPr id="19" name="mechanism-index-4">
            <a:extLst xmlns:a="http://schemas.openxmlformats.org/drawingml/2006/main">
              <a:ext uri="{FF2B5EF4-FFF2-40B4-BE49-F238E27FC236}">
                <a16:creationId xmlns:a16="http://schemas.microsoft.com/office/drawing/2014/main" id="{2BE70219-5A9E-4EA4-B21A-03F7A9F2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4</a:t>
            </a:r>
          </a:p>
        </p:txBody>
      </p:sp>
      <p:sp>
        <p:nvSpPr>
          <p:cNvPr id="20" name="mechanism-label-4">
            <a:extLst xmlns:a="http://schemas.openxmlformats.org/drawingml/2006/main">
              <a:ext uri="{FF2B5EF4-FFF2-40B4-BE49-F238E27FC236}">
                <a16:creationId xmlns:a16="http://schemas.microsoft.com/office/drawing/2014/main" id="{BD279390-A88F-4806-8493-5084C30F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SETTLE</a:t>
            </a:r>
          </a:p>
        </p:txBody>
      </p:sp>
      <p:sp>
        <p:nvSpPr>
          <p:cNvPr id="21" name="mechanism-body-4">
            <a:extLst xmlns:a="http://schemas.openxmlformats.org/drawingml/2006/main">
              <a:ext uri="{FF2B5EF4-FFF2-40B4-BE49-F238E27FC236}">
                <a16:creationId xmlns:a16="http://schemas.microsoft.com/office/drawing/2014/main" id="{398B9CD6-8DBD-427B-ADF5-6499252C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14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bounded markout</a:t>
            </a:r>
          </a:p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retention curve</a:t>
            </a:r>
          </a:p>
        </p:txBody>
      </p:sp>
      <p:sp>
        <p:nvSpPr>
          <p:cNvPr id="22" name="mechanism-node-5">
            <a:extLst xmlns:a="http://schemas.openxmlformats.org/drawingml/2006/main">
              <a:ext uri="{FF2B5EF4-FFF2-40B4-BE49-F238E27FC236}">
                <a16:creationId xmlns:a16="http://schemas.microsoft.com/office/drawing/2014/main" id="{20F4E424-93F1-40D8-A5A9-BC1AF73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8669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23" name="mechanism-index-5">
            <a:extLst xmlns:a="http://schemas.openxmlformats.org/drawingml/2006/main">
              <a:ext uri="{FF2B5EF4-FFF2-40B4-BE49-F238E27FC236}">
                <a16:creationId xmlns:a16="http://schemas.microsoft.com/office/drawing/2014/main" id="{91012C94-476D-48F0-BF09-6C29ACC1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FFAD"/>
                </a:solidFill>
              </a:defRPr>
            </a:pPr>
            <a:r>
              <a:rPr sz="1275" b="1">
                <a:solidFill>
                  <a:srgbClr val="8AFFAD"/>
                </a:solidFill>
              </a:rPr>
              <a:t>5</a:t>
            </a:r>
          </a:p>
        </p:txBody>
      </p:sp>
      <p:sp>
        <p:nvSpPr>
          <p:cNvPr id="24" name="mechanism-label-5">
            <a:extLst xmlns:a="http://schemas.openxmlformats.org/drawingml/2006/main">
              <a:ext uri="{FF2B5EF4-FFF2-40B4-BE49-F238E27FC236}">
                <a16:creationId xmlns:a16="http://schemas.microsoft.com/office/drawing/2014/main" id="{47870143-190E-4603-8B0E-B2C701AD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146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4F1E8"/>
                </a:solidFill>
              </a:defRPr>
            </a:pPr>
            <a:r>
              <a:rPr sz="1425" b="1">
                <a:solidFill>
                  <a:srgbClr val="F4F1E8"/>
                </a:solidFill>
              </a:rPr>
              <a:t>ALLOCATE</a:t>
            </a:r>
          </a:p>
        </p:txBody>
      </p:sp>
      <p:sp>
        <p:nvSpPr>
          <p:cNvPr id="25" name="mechanism-body-5">
            <a:extLst xmlns:a="http://schemas.openxmlformats.org/drawingml/2006/main">
              <a:ext uri="{FF2B5EF4-FFF2-40B4-BE49-F238E27FC236}">
                <a16:creationId xmlns:a16="http://schemas.microsoft.com/office/drawing/2014/main" id="{7E29B7A7-C830-4B99-B080-44C6DE0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1472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rebate + reserve</a:t>
            </a:r>
          </a:p>
          <a:p xmlns:a="http://schemas.openxmlformats.org/drawingml/2006/main">
            <a:pPr>
              <a:buNone/>
              <a:defRPr sz="1200">
                <a:solidFill>
                  <a:srgbClr val="9CA9B5"/>
                </a:solidFill>
              </a:defRPr>
            </a:pPr>
            <a:r>
              <a:rPr sz="1200">
                <a:solidFill>
                  <a:srgbClr val="9CA9B5"/>
                </a:solidFill>
              </a:rPr>
              <a:t>conserve escrow</a:t>
            </a:r>
          </a:p>
        </p:txBody>
      </p:sp>
      <p:cxnSp>
        <p:nvCxnSpPr>
          <p:cNvPr id="34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55270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cxnSp>
        <p:nvCxnSpPr>
          <p:cNvPr id="34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434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cxnSp>
        <p:nvCxnSpPr>
          <p:cNvPr id="34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3420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cxnSp>
        <p:nvCxnSpPr>
          <p:cNvPr id="349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124950" y="33432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sp>
        <p:nvSpPr>
          <p:cNvPr id="30" name="slide-3-fail-open">
            <a:extLst xmlns:a="http://schemas.openxmlformats.org/drawingml/2006/main">
              <a:ext uri="{FF2B5EF4-FFF2-40B4-BE49-F238E27FC236}">
                <a16:creationId xmlns:a16="http://schemas.microsoft.com/office/drawing/2014/main" id="{0EE6C47D-563D-4972-9D0A-EEAC83EF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AFFAD"/>
                </a:solidFill>
              </a:defRPr>
            </a:pPr>
            <a:r>
              <a:rPr sz="1650" b="1">
                <a:solidFill>
                  <a:srgbClr val="8AFFAD"/>
                </a:solidFill>
              </a:rPr>
              <a:t>No valid observation by expiry → full provisional surcharge rebate</a:t>
            </a:r>
          </a:p>
        </p:txBody>
      </p:sp>
    </p:spTree>
    <p:extLst>
      <p:ext uri="{BB962C8B-B14F-4D97-AF65-F5344CB8AC3E}">
        <p14:creationId xmlns:p14="http://schemas.microsoft.com/office/powerpoint/2010/main" val="1673037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4">
            <a:extLst xmlns:a="http://schemas.openxmlformats.org/drawingml/2006/main">
              <a:ext uri="{FF2B5EF4-FFF2-40B4-BE49-F238E27FC236}">
                <a16:creationId xmlns:a16="http://schemas.microsoft.com/office/drawing/2014/main" id="{E6516E21-DD29-4DD4-A95C-BABF9056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DISCRIMINATION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3D9ABBA8-CDCB-469A-926D-F353A73C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4 / 9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5D8B499-DEBF-4194-9589-8812EF6D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68951C2-8534-4E80-A367-EDD4B9F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MARKOUT charges information—not the whole market.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8d468127b47e8"/>
          <a:stretch xmlns:a="http://schemas.openxmlformats.org/drawingml/2006/main"/>
        </p:blipFill>
        <p:spPr>
          <a:xfrm xmlns:a="http://schemas.openxmlformats.org/drawingml/2006/main">
            <a:off x="2611694" y="1857375"/>
            <a:ext cx="6968613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slide-4-callout">
            <a:extLst xmlns:a="http://schemas.openxmlformats.org/drawingml/2006/main">
              <a:ext uri="{FF2B5EF4-FFF2-40B4-BE49-F238E27FC236}">
                <a16:creationId xmlns:a16="http://schemas.microsoft.com/office/drawing/2014/main" id="{44EB9238-ABB2-4578-BDF1-BF1DF77D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AFFAD"/>
                </a:solidFill>
              </a:defRPr>
            </a:pPr>
            <a:r>
              <a:rPr sz="1575" b="1">
                <a:solidFill>
                  <a:srgbClr val="8AFFAD"/>
                </a:solidFill>
              </a:rPr>
              <a:t>73.06 bps informed · 39.43 bps benign · 30.00 bps inventory-improving</a:t>
            </a:r>
          </a:p>
        </p:txBody>
      </p:sp>
    </p:spTree>
    <p:extLst>
      <p:ext uri="{BB962C8B-B14F-4D97-AF65-F5344CB8AC3E}">
        <p14:creationId xmlns:p14="http://schemas.microsoft.com/office/powerpoint/2010/main" val="1129235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5">
            <a:extLst xmlns:a="http://schemas.openxmlformats.org/drawingml/2006/main">
              <a:ext uri="{FF2B5EF4-FFF2-40B4-BE49-F238E27FC236}">
                <a16:creationId xmlns:a16="http://schemas.microsoft.com/office/drawing/2014/main" id="{7EFEA686-BF40-4936-8234-C6ECEF1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EVIDENCE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C0297821-4CC5-4BBF-8E42-A0C6DA5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5 / 9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1C9A307D-3F41-4016-B39F-AE45BA1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6F2F603-5E0D-40EB-BDAC-2AAEA0B9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The experiment supports a tradeoff, not a miracle.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cbcc0d5ed4f9f"/>
          <a:stretch xmlns:a="http://schemas.openxmlformats.org/drawingml/2006/main"/>
        </p:blipFill>
        <p:spPr>
          <a:xfrm xmlns:a="http://schemas.openxmlformats.org/drawingml/2006/main">
            <a:off x="637560" y="1333500"/>
            <a:ext cx="7964129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vs-fixed-value">
            <a:extLst xmlns:a="http://schemas.openxmlformats.org/drawingml/2006/main">
              <a:ext uri="{FF2B5EF4-FFF2-40B4-BE49-F238E27FC236}">
                <a16:creationId xmlns:a16="http://schemas.microsoft.com/office/drawing/2014/main" id="{8B0FB59A-4EC2-49D2-AFB2-B44A8E6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8AFFAD"/>
                </a:solidFill>
              </a:defRPr>
            </a:pPr>
            <a:r>
              <a:rPr sz="3150" b="1">
                <a:solidFill>
                  <a:srgbClr val="8AFFAD"/>
                </a:solidFill>
              </a:rPr>
              <a:t>+$3,249.79</a:t>
            </a:r>
          </a:p>
        </p:txBody>
      </p:sp>
      <p:sp>
        <p:nvSpPr>
          <p:cNvPr id="7" name="vs-fixed-label">
            <a:extLst xmlns:a="http://schemas.openxmlformats.org/drawingml/2006/main">
              <a:ext uri="{FF2B5EF4-FFF2-40B4-BE49-F238E27FC236}">
                <a16:creationId xmlns:a16="http://schemas.microsoft.com/office/drawing/2014/main" id="{C26B03CB-AAA7-491A-8DF4-E001194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LP net after proxy</a:t>
            </a:r>
          </a:p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versus fixed fee</a:t>
            </a:r>
          </a:p>
        </p:txBody>
      </p:sp>
      <p:sp>
        <p:nvSpPr>
          <p:cNvPr id="8" name="vs-volatility-value">
            <a:extLst xmlns:a="http://schemas.openxmlformats.org/drawingml/2006/main">
              <a:ext uri="{FF2B5EF4-FFF2-40B4-BE49-F238E27FC236}">
                <a16:creationId xmlns:a16="http://schemas.microsoft.com/office/drawing/2014/main" id="{F751CEB4-8459-4680-A19C-235E592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57625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59E0B"/>
                </a:solidFill>
              </a:defRPr>
            </a:pPr>
            <a:r>
              <a:rPr sz="3150" b="1">
                <a:solidFill>
                  <a:srgbClr val="F59E0B"/>
                </a:solidFill>
              </a:rPr>
              <a:t>−$454.75</a:t>
            </a:r>
          </a:p>
        </p:txBody>
      </p:sp>
      <p:sp>
        <p:nvSpPr>
          <p:cNvPr id="9" name="vs-volatility-label">
            <a:extLst xmlns:a="http://schemas.openxmlformats.org/drawingml/2006/main">
              <a:ext uri="{FF2B5EF4-FFF2-40B4-BE49-F238E27FC236}">
                <a16:creationId xmlns:a16="http://schemas.microsoft.com/office/drawing/2014/main" id="{CF63E797-B814-424B-A9D6-D42D564D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versus volatility fee;</a:t>
            </a:r>
          </a:p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good flow pays less</a:t>
            </a:r>
          </a:p>
        </p:txBody>
      </p:sp>
    </p:spTree>
    <p:extLst>
      <p:ext uri="{BB962C8B-B14F-4D97-AF65-F5344CB8AC3E}">
        <p14:creationId xmlns:p14="http://schemas.microsoft.com/office/powerpoint/2010/main" val="90168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6">
            <a:extLst xmlns:a="http://schemas.openxmlformats.org/drawingml/2006/main">
              <a:ext uri="{FF2B5EF4-FFF2-40B4-BE49-F238E27FC236}">
                <a16:creationId xmlns:a16="http://schemas.microsoft.com/office/drawing/2014/main" id="{2FC4CBFF-C793-4766-84F3-2C35D39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ACCOUNTING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17E43B93-2076-4F8D-A76A-136821E3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6 / 9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47B9848-523D-4977-9B76-A7EEACFD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98815ED-C47D-49D3-8363-0E969148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Every provisional dollar ends in a named bucket.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a5720b254e65"/>
          <a:stretch xmlns:a="http://schemas.openxmlformats.org/drawingml/2006/main"/>
        </p:blipFill>
        <p:spPr>
          <a:xfrm xmlns:a="http://schemas.openxmlformats.org/drawingml/2006/main">
            <a:off x="523875" y="1391267"/>
            <a:ext cx="7762875" cy="4456465"/>
          </a:xfrm>
          <a:prstGeom xmlns:a="http://schemas.openxmlformats.org/drawingml/2006/main" prst="rect">
            <a:avLst/>
          </a:prstGeom>
        </p:spPr>
      </p:pic>
      <p:sp>
        <p:nvSpPr>
          <p:cNvPr id="6" name="rebates-value">
            <a:extLst xmlns:a="http://schemas.openxmlformats.org/drawingml/2006/main">
              <a:ext uri="{FF2B5EF4-FFF2-40B4-BE49-F238E27FC236}">
                <a16:creationId xmlns:a16="http://schemas.microsoft.com/office/drawing/2014/main" id="{0E71CF41-D346-4800-BB32-A8CB4F36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621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41D47A"/>
                </a:solidFill>
              </a:defRPr>
            </a:pPr>
            <a:r>
              <a:rPr sz="3600" b="1">
                <a:solidFill>
                  <a:srgbClr val="41D47A"/>
                </a:solidFill>
              </a:rPr>
              <a:t>$6,746.61</a:t>
            </a:r>
          </a:p>
        </p:txBody>
      </p:sp>
      <p:sp>
        <p:nvSpPr>
          <p:cNvPr id="7" name="rebates-label">
            <a:extLst xmlns:a="http://schemas.openxmlformats.org/drawingml/2006/main">
              <a:ext uri="{FF2B5EF4-FFF2-40B4-BE49-F238E27FC236}">
                <a16:creationId xmlns:a16="http://schemas.microsoft.com/office/drawing/2014/main" id="{D8E068AF-1406-46A6-942F-831234E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479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returned to traders</a:t>
            </a:r>
          </a:p>
        </p:txBody>
      </p:sp>
      <p:sp>
        <p:nvSpPr>
          <p:cNvPr id="8" name="reserve-value">
            <a:extLst xmlns:a="http://schemas.openxmlformats.org/drawingml/2006/main">
              <a:ext uri="{FF2B5EF4-FFF2-40B4-BE49-F238E27FC236}">
                <a16:creationId xmlns:a16="http://schemas.microsoft.com/office/drawing/2014/main" id="{B597259C-D089-49BF-94E7-9AFC7D03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861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EC4899"/>
                </a:solidFill>
              </a:defRPr>
            </a:pPr>
            <a:r>
              <a:rPr sz="3600" b="1">
                <a:solidFill>
                  <a:srgbClr val="EC4899"/>
                </a:solidFill>
              </a:rPr>
              <a:t>$3,249.79</a:t>
            </a:r>
          </a:p>
        </p:txBody>
      </p:sp>
      <p:sp>
        <p:nvSpPr>
          <p:cNvPr id="9" name="reserve-label">
            <a:extLst xmlns:a="http://schemas.openxmlformats.org/drawingml/2006/main">
              <a:ext uri="{FF2B5EF4-FFF2-40B4-BE49-F238E27FC236}">
                <a16:creationId xmlns:a16="http://schemas.microsoft.com/office/drawing/2014/main" id="{389F57A8-9A03-452F-9ABE-6AA8EA5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719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credited to LP protection</a:t>
            </a:r>
          </a:p>
        </p:txBody>
      </p:sp>
      <p:sp>
        <p:nvSpPr>
          <p:cNvPr id="10" name="expiry-value">
            <a:extLst xmlns:a="http://schemas.openxmlformats.org/drawingml/2006/main">
              <a:ext uri="{FF2B5EF4-FFF2-40B4-BE49-F238E27FC236}">
                <a16:creationId xmlns:a16="http://schemas.microsoft.com/office/drawing/2014/main" id="{7D57EE9A-5777-4C7C-9078-B28403C6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10125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4F1E8"/>
                </a:solidFill>
              </a:defRPr>
            </a:pPr>
            <a:r>
              <a:rPr sz="3600" b="1">
                <a:solidFill>
                  <a:srgbClr val="F4F1E8"/>
                </a:solidFill>
              </a:rPr>
              <a:t>63</a:t>
            </a:r>
          </a:p>
        </p:txBody>
      </p:sp>
      <p:sp>
        <p:nvSpPr>
          <p:cNvPr id="11" name="expiry-label">
            <a:extLst xmlns:a="http://schemas.openxmlformats.org/drawingml/2006/main">
              <a:ext uri="{FF2B5EF4-FFF2-40B4-BE49-F238E27FC236}">
                <a16:creationId xmlns:a16="http://schemas.microsoft.com/office/drawing/2014/main" id="{655BDB60-E232-45D8-B9D6-D306AA6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4959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invalid references expire</a:t>
            </a:r>
          </a:p>
          <a:p xmlns:a="http://schemas.openxmlformats.org/drawingml/2006/main">
            <a:pPr>
              <a:buNone/>
              <a:defRPr sz="1275">
                <a:solidFill>
                  <a:srgbClr val="9CA9B5"/>
                </a:solidFill>
              </a:defRPr>
            </a:pPr>
            <a:r>
              <a:rPr sz="1275">
                <a:solidFill>
                  <a:srgbClr val="9CA9B5"/>
                </a:solidFill>
              </a:rPr>
              <a:t>with full surcharge rebate</a:t>
            </a:r>
          </a:p>
        </p:txBody>
      </p:sp>
    </p:spTree>
    <p:extLst>
      <p:ext uri="{BB962C8B-B14F-4D97-AF65-F5344CB8AC3E}">
        <p14:creationId xmlns:p14="http://schemas.microsoft.com/office/powerpoint/2010/main" val="606456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7">
            <a:extLst xmlns:a="http://schemas.openxmlformats.org/drawingml/2006/main">
              <a:ext uri="{FF2B5EF4-FFF2-40B4-BE49-F238E27FC236}">
                <a16:creationId xmlns:a16="http://schemas.microsoft.com/office/drawing/2014/main" id="{66F7C44A-B107-4670-ACC1-A73A9D4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AUTONOMY</a:t>
            </a:r>
          </a:p>
        </p:txBody>
      </p:sp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D48938B5-E411-40A8-BDDD-59F43C5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7 / 9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A073FB9C-9C88-49A1-B820-37F2D4B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720FEC3-B62C-4725-8E0F-960DB65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Reactive turns delayed evidence into an authenticated action.</a:t>
            </a:r>
          </a:p>
        </p:txBody>
      </p:sp>
      <p:sp>
        <p:nvSpPr>
          <p:cNvPr id="5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6B6D307D-88FF-4FFD-AA08-3B5C7F6F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CA9B5"/>
                </a:solidFill>
              </a:defRPr>
            </a:pPr>
            <a:r>
              <a:rPr sz="1575">
                <a:solidFill>
                  <a:srgbClr val="9CA9B5"/>
                </a:solidFill>
              </a:rPr>
              <a:t>Reactive is primary. Unichain owns custody, validation, and final accounting.</a:t>
            </a:r>
          </a:p>
        </p:txBody>
      </p:sp>
      <p:sp>
        <p:nvSpPr>
          <p:cNvPr id="6" name="origin-boundary">
            <a:extLst xmlns:a="http://schemas.openxmlformats.org/drawingml/2006/main">
              <a:ext uri="{FF2B5EF4-FFF2-40B4-BE49-F238E27FC236}">
                <a16:creationId xmlns:a16="http://schemas.microsoft.com/office/drawing/2014/main" id="{2EA9B362-B6B5-4F74-A6F7-D3E74982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1432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7" name="reactive-boundary">
            <a:extLst xmlns:a="http://schemas.openxmlformats.org/drawingml/2006/main">
              <a:ext uri="{FF2B5EF4-FFF2-40B4-BE49-F238E27FC236}">
                <a16:creationId xmlns:a16="http://schemas.microsoft.com/office/drawing/2014/main" id="{9E437601-B3DB-4D0D-A833-F6A42D56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1432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131C23"/>
          </a:solidFill>
          <a:ln xmlns:a="http://schemas.openxmlformats.org/drawingml/2006/main" w="19050">
            <a:solidFill>
              <a:srgbClr val="8AFFAD"/>
            </a:solidFill>
            <a:prstDash val="solid"/>
          </a:ln>
        </p:spPr>
      </p:sp>
      <p:sp>
        <p:nvSpPr>
          <p:cNvPr id="8" name="destination-boundary">
            <a:extLst xmlns:a="http://schemas.openxmlformats.org/drawingml/2006/main">
              <a:ext uri="{FF2B5EF4-FFF2-40B4-BE49-F238E27FC236}">
                <a16:creationId xmlns:a16="http://schemas.microsoft.com/office/drawing/2014/main" id="{300620D3-79A0-41DF-AC61-9162795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3143250" cy="2333625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10161B"/>
          </a:solidFill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cxnSp>
        <p:nvCxnSpPr>
          <p:cNvPr id="1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19550" y="35004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cxnSp>
        <p:nvCxnSpPr>
          <p:cNvPr id="1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67625" y="3500438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FFAD"/>
            </a:solidFill>
            <a:prstDash val="solid"/>
            <a:tailEnd type="arrow" w="sm" len="sm"/>
          </a:ln>
        </p:spPr>
      </p:cxnSp>
      <p:sp>
        <p:nvSpPr>
          <p:cNvPr id="11" name="origin-title">
            <a:extLst xmlns:a="http://schemas.openxmlformats.org/drawingml/2006/main">
              <a:ext uri="{FF2B5EF4-FFF2-40B4-BE49-F238E27FC236}">
                <a16:creationId xmlns:a16="http://schemas.microsoft.com/office/drawing/2014/main" id="{5706F5C7-8574-4918-BE0A-FF696914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UNISWAP v4</a:t>
            </a:r>
          </a:p>
        </p:txBody>
      </p:sp>
      <p:sp>
        <p:nvSpPr>
          <p:cNvPr id="12" name="origin-body">
            <a:extLst xmlns:a="http://schemas.openxmlformats.org/drawingml/2006/main">
              <a:ext uri="{FF2B5EF4-FFF2-40B4-BE49-F238E27FC236}">
                <a16:creationId xmlns:a16="http://schemas.microsoft.com/office/drawing/2014/main" id="{5F1D3AA2-2D39-4254-AC23-B56D58B0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Escrow surcharge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Create pending trade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Emit MarkoutRequested</a:t>
            </a:r>
          </a:p>
        </p:txBody>
      </p:sp>
      <p:sp>
        <p:nvSpPr>
          <p:cNvPr id="13" name="reactive-title">
            <a:extLst xmlns:a="http://schemas.openxmlformats.org/drawingml/2006/main">
              <a:ext uri="{FF2B5EF4-FFF2-40B4-BE49-F238E27FC236}">
                <a16:creationId xmlns:a16="http://schemas.microsoft.com/office/drawing/2014/main" id="{456F835E-1873-4FF0-8156-A86642F6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09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8AFFAD"/>
                </a:solidFill>
              </a:defRPr>
            </a:pPr>
            <a:r>
              <a:rPr sz="1725" b="1">
                <a:solidFill>
                  <a:srgbClr val="8AFFAD"/>
                </a:solidFill>
              </a:rPr>
              <a:t>REACTIVE NETWORK</a:t>
            </a:r>
          </a:p>
        </p:txBody>
      </p:sp>
      <p:sp>
        <p:nvSpPr>
          <p:cNvPr id="14" name="reactive-body">
            <a:extLst xmlns:a="http://schemas.openxmlformats.org/drawingml/2006/main">
              <a:ext uri="{FF2B5EF4-FFF2-40B4-BE49-F238E27FC236}">
                <a16:creationId xmlns:a16="http://schemas.microsoft.com/office/drawing/2014/main" id="{1652FCC6-DEBF-4441-971E-16D572B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432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Exact event subscription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ReactVM validates payload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Authenticated Unichain callback</a:t>
            </a:r>
          </a:p>
        </p:txBody>
      </p:sp>
      <p:sp>
        <p:nvSpPr>
          <p:cNvPr id="15" name="destination-title">
            <a:extLst xmlns:a="http://schemas.openxmlformats.org/drawingml/2006/main">
              <a:ext uri="{FF2B5EF4-FFF2-40B4-BE49-F238E27FC236}">
                <a16:creationId xmlns:a16="http://schemas.microsoft.com/office/drawing/2014/main" id="{F44B3302-7732-4FCB-B819-DE0DF4FB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4F1E8"/>
                </a:solidFill>
              </a:defRPr>
            </a:pPr>
            <a:r>
              <a:rPr sz="1725" b="1">
                <a:solidFill>
                  <a:srgbClr val="F4F1E8"/>
                </a:solidFill>
              </a:rPr>
              <a:t>COORDINATOR</a:t>
            </a:r>
          </a:p>
        </p:txBody>
      </p:sp>
      <p:sp>
        <p:nvSpPr>
          <p:cNvPr id="16" name="destination-body">
            <a:extLst xmlns:a="http://schemas.openxmlformats.org/drawingml/2006/main">
              <a:ext uri="{FF2B5EF4-FFF2-40B4-BE49-F238E27FC236}">
                <a16:creationId xmlns:a16="http://schemas.microsoft.com/office/drawing/2014/main" id="{6F62BBAC-07BB-4222-A711-58EC89A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Authenticate sources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First valid delivery wins</a:t>
            </a:r>
          </a:p>
          <a:p xmlns:a="http://schemas.openxmlformats.org/drawingml/2006/main">
            <a:pPr>
              <a:buNone/>
              <a:defRPr sz="1425">
                <a:solidFill>
                  <a:srgbClr val="9CA9B5"/>
                </a:solidFill>
              </a:defRPr>
            </a:pPr>
            <a:r>
              <a:rPr sz="1425">
                <a:solidFill>
                  <a:srgbClr val="9CA9B5"/>
                </a:solidFill>
              </a:rPr>
              <a:t>Hook settles or expires</a:t>
            </a:r>
          </a:p>
        </p:txBody>
      </p:sp>
      <p:sp>
        <p:nvSpPr>
          <p:cNvPr id="17" name="slide-7-close">
            <a:extLst xmlns:a="http://schemas.openxmlformats.org/drawingml/2006/main">
              <a:ext uri="{FF2B5EF4-FFF2-40B4-BE49-F238E27FC236}">
                <a16:creationId xmlns:a16="http://schemas.microsoft.com/office/drawing/2014/main" id="{8249B4A1-360A-46EA-9535-28E7527C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8AFFAD"/>
                </a:solidFill>
              </a:defRPr>
            </a:pPr>
            <a:r>
              <a:rPr sz="2100" b="1">
                <a:solidFill>
                  <a:srgbClr val="8AFFAD"/>
                </a:solidFill>
              </a:rPr>
              <a:t>At-least-once delivery. Exactly-once economics.</a:t>
            </a:r>
          </a:p>
        </p:txBody>
      </p:sp>
    </p:spTree>
    <p:extLst>
      <p:ext uri="{BB962C8B-B14F-4D97-AF65-F5344CB8AC3E}">
        <p14:creationId xmlns:p14="http://schemas.microsoft.com/office/powerpoint/2010/main" val="1901801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8">
            <a:extLst xmlns:a="http://schemas.openxmlformats.org/drawingml/2006/main">
              <a:ext uri="{FF2B5EF4-FFF2-40B4-BE49-F238E27FC236}">
                <a16:creationId xmlns:a16="http://schemas.microsoft.com/office/drawing/2014/main" id="{6CB0B761-5A05-492F-AFC5-06A43F2F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PROOF</a:t>
            </a:r>
          </a:p>
        </p:txBody>
      </p:sp>
      <p:sp>
        <p:nvSpPr>
          <p:cNvPr id="2" name="footer-8">
            <a:extLst xmlns:a="http://schemas.openxmlformats.org/drawingml/2006/main">
              <a:ext uri="{FF2B5EF4-FFF2-40B4-BE49-F238E27FC236}">
                <a16:creationId xmlns:a16="http://schemas.microsoft.com/office/drawing/2014/main" id="{52110BE6-3D4C-4A78-AF70-790F89B2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8 / 9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E3781E1-09DD-44F6-9FFB-E3E16790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1DA3A37-CA35-47C1-98E8-27D466E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4F1E8"/>
                </a:solidFill>
              </a:defRPr>
            </a:pPr>
            <a:r>
              <a:rPr sz="2850" b="1">
                <a:solidFill>
                  <a:srgbClr val="F4F1E8"/>
                </a:solidFill>
              </a:rPr>
              <a:t>The prototype is hardened where it matters most.</a:t>
            </a:r>
          </a:p>
        </p:txBody>
      </p:sp>
      <p:sp>
        <p:nvSpPr>
          <p:cNvPr id="5" name="metric-line">
            <a:extLst xmlns:a="http://schemas.openxmlformats.org/drawingml/2006/main">
              <a:ext uri="{FF2B5EF4-FFF2-40B4-BE49-F238E27FC236}">
                <a16:creationId xmlns:a16="http://schemas.microsoft.com/office/drawing/2014/main" id="{22A93793-8A69-4C43-9177-C6B823FD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14B"/>
            </a:solidFill>
            <a:prstDash val="solid"/>
          </a:ln>
        </p:spPr>
      </p:sp>
      <p:sp>
        <p:nvSpPr>
          <p:cNvPr id="6" name="proof-value-1">
            <a:extLst xmlns:a="http://schemas.openxmlformats.org/drawingml/2006/main">
              <a:ext uri="{FF2B5EF4-FFF2-40B4-BE49-F238E27FC236}">
                <a16:creationId xmlns:a16="http://schemas.microsoft.com/office/drawing/2014/main" id="{7AD3A3A9-62C3-4DCA-B828-6F4D9B1E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4F1E8"/>
                </a:solidFill>
              </a:defRPr>
            </a:pPr>
            <a:r>
              <a:rPr sz="4800" b="1">
                <a:solidFill>
                  <a:srgbClr val="F4F1E8"/>
                </a:solidFill>
              </a:rPr>
              <a:t>186</a:t>
            </a:r>
          </a:p>
        </p:txBody>
      </p:sp>
      <p:sp>
        <p:nvSpPr>
          <p:cNvPr id="7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1B656049-F534-4437-BFEA-0FB22AA4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deterministic</a:t>
            </a:r>
          </a:p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Solidity tests</a:t>
            </a:r>
          </a:p>
        </p:txBody>
      </p:sp>
      <p:sp>
        <p:nvSpPr>
          <p:cNvPr id="8" name="proof-value-2">
            <a:extLst xmlns:a="http://schemas.openxmlformats.org/drawingml/2006/main">
              <a:ext uri="{FF2B5EF4-FFF2-40B4-BE49-F238E27FC236}">
                <a16:creationId xmlns:a16="http://schemas.microsoft.com/office/drawing/2014/main" id="{D467C700-9EEC-40CD-8BF6-E9CD22A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4F1E8"/>
                </a:solidFill>
              </a:defRPr>
            </a:pPr>
            <a:r>
              <a:rPr sz="4800" b="1">
                <a:solidFill>
                  <a:srgbClr val="F4F1E8"/>
                </a:solidFill>
              </a:rPr>
              <a:t>12</a:t>
            </a:r>
          </a:p>
        </p:txBody>
      </p:sp>
      <p:sp>
        <p:nvSpPr>
          <p:cNvPr id="9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1690EE59-4AE9-4809-A2BD-69EBE832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stateful</a:t>
            </a:r>
          </a:p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invariants</a:t>
            </a:r>
          </a:p>
        </p:txBody>
      </p:sp>
      <p:sp>
        <p:nvSpPr>
          <p:cNvPr id="10" name="proof-value-3">
            <a:extLst xmlns:a="http://schemas.openxmlformats.org/drawingml/2006/main">
              <a:ext uri="{FF2B5EF4-FFF2-40B4-BE49-F238E27FC236}">
                <a16:creationId xmlns:a16="http://schemas.microsoft.com/office/drawing/2014/main" id="{E545DA8D-C554-4D6D-BD60-528C7BE0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383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8AFFAD"/>
                </a:solidFill>
              </a:defRPr>
            </a:pPr>
            <a:r>
              <a:rPr sz="4800" b="1">
                <a:solidFill>
                  <a:srgbClr val="8AFFAD"/>
                </a:solidFill>
              </a:rPr>
              <a:t>0</a:t>
            </a:r>
          </a:p>
        </p:txBody>
      </p:sp>
      <p:sp>
        <p:nvSpPr>
          <p:cNvPr id="11" name="proof-label-3">
            <a:extLst xmlns:a="http://schemas.openxmlformats.org/drawingml/2006/main">
              <a:ext uri="{FF2B5EF4-FFF2-40B4-BE49-F238E27FC236}">
                <a16:creationId xmlns:a16="http://schemas.microsoft.com/office/drawing/2014/main" id="{8F388CD6-92E9-46DB-B3ED-BA4C9692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2375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medium / high</a:t>
            </a:r>
          </a:p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Slither findings</a:t>
            </a:r>
          </a:p>
        </p:txBody>
      </p:sp>
      <p:sp>
        <p:nvSpPr>
          <p:cNvPr id="12" name="proof-value-4">
            <a:extLst xmlns:a="http://schemas.openxmlformats.org/drawingml/2006/main">
              <a:ext uri="{FF2B5EF4-FFF2-40B4-BE49-F238E27FC236}">
                <a16:creationId xmlns:a16="http://schemas.microsoft.com/office/drawing/2014/main" id="{B22CF356-12D9-4DE8-930A-1881E848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4F1E8"/>
                </a:solidFill>
              </a:defRPr>
            </a:pPr>
            <a:r>
              <a:rPr sz="4800" b="1">
                <a:solidFill>
                  <a:srgbClr val="F4F1E8"/>
                </a:solidFill>
              </a:rPr>
              <a:t>768</a:t>
            </a:r>
          </a:p>
        </p:txBody>
      </p:sp>
      <p:sp>
        <p:nvSpPr>
          <p:cNvPr id="13" name="proof-label-4">
            <a:extLst xmlns:a="http://schemas.openxmlformats.org/drawingml/2006/main">
              <a:ext uri="{FF2B5EF4-FFF2-40B4-BE49-F238E27FC236}">
                <a16:creationId xmlns:a16="http://schemas.microsoft.com/office/drawing/2014/main" id="{CAEBCBB7-F681-4C17-A5D5-BCAB1EA1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62375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trades on one</a:t>
            </a:r>
          </a:p>
          <a:p xmlns:a="http://schemas.openxmlformats.org/drawingml/2006/main">
            <a:pPr algn="ctr">
              <a:buNone/>
              <a:defRPr sz="1500">
                <a:solidFill>
                  <a:srgbClr val="9CA9B5"/>
                </a:solidFill>
              </a:defRPr>
            </a:pPr>
            <a:r>
              <a:rPr sz="1500">
                <a:solidFill>
                  <a:srgbClr val="9CA9B5"/>
                </a:solidFill>
              </a:rPr>
              <a:t>seeded tape</a:t>
            </a:r>
          </a:p>
        </p:txBody>
      </p:sp>
      <p:sp>
        <p:nvSpPr>
          <p:cNvPr id="14" name="slide-8-boundary">
            <a:extLst xmlns:a="http://schemas.openxmlformats.org/drawingml/2006/main">
              <a:ext uri="{FF2B5EF4-FFF2-40B4-BE49-F238E27FC236}">
                <a16:creationId xmlns:a16="http://schemas.microsoft.com/office/drawing/2014/main" id="{78EDD1E7-7374-49E5-B084-62FBE8A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AFFAD"/>
                </a:solidFill>
              </a:defRPr>
            </a:pPr>
            <a:r>
              <a:rPr sz="1575" b="1">
                <a:solidFill>
                  <a:srgbClr val="8AFFAD"/>
                </a:solidFill>
              </a:rPr>
              <a:t>Security review ≠ independent audit · synthetic evidence ≠ forecast</a:t>
            </a:r>
          </a:p>
        </p:txBody>
      </p:sp>
    </p:spTree>
    <p:extLst>
      <p:ext uri="{BB962C8B-B14F-4D97-AF65-F5344CB8AC3E}">
        <p14:creationId xmlns:p14="http://schemas.microsoft.com/office/powerpoint/2010/main" val="13086479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9">
            <a:extLst xmlns:a="http://schemas.openxmlformats.org/drawingml/2006/main">
              <a:ext uri="{FF2B5EF4-FFF2-40B4-BE49-F238E27FC236}">
                <a16:creationId xmlns:a16="http://schemas.microsoft.com/office/drawing/2014/main" id="{975D24E6-D13A-4CDC-8621-D4FB7CA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8AFFAD"/>
                </a:solidFill>
              </a:defRPr>
            </a:pPr>
            <a:r>
              <a:rPr sz="1050" b="1">
                <a:solidFill>
                  <a:srgbClr val="8AFFAD"/>
                </a:solidFill>
              </a:rPr>
              <a:t>CLOSE</a:t>
            </a:r>
          </a:p>
        </p:txBody>
      </p:sp>
      <p:sp>
        <p:nvSpPr>
          <p:cNvPr id="2" name="footer-9">
            <a:extLst xmlns:a="http://schemas.openxmlformats.org/drawingml/2006/main">
              <a:ext uri="{FF2B5EF4-FFF2-40B4-BE49-F238E27FC236}">
                <a16:creationId xmlns:a16="http://schemas.microsoft.com/office/drawing/2014/main" id="{23B1C602-F705-4D29-BFA3-2A87814B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9CA9B5"/>
                </a:solidFill>
              </a:defRPr>
            </a:pPr>
            <a:r>
              <a:rPr sz="900">
                <a:solidFill>
                  <a:srgbClr val="9CA9B5"/>
                </a:solidFill>
              </a:rPr>
              <a:t>MARKOUT · UHI10                                      9 / 9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6CB6FB0-DF72-4C8E-9518-33F9E2DB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4B"/>
            </a:solidFill>
            <a:prstDash val="solid"/>
          </a:ln>
        </p:spPr>
      </p:sp>
      <p:sp>
        <p:nvSpPr>
          <p:cNvPr id="4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6FDFC546-49DB-467D-A497-A1E44D5A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8AFFAD"/>
                </a:solidFill>
              </a:defRPr>
            </a:pPr>
            <a:r>
              <a:rPr sz="4800" b="1">
                <a:solidFill>
                  <a:srgbClr val="8AFFAD"/>
                </a:solidFill>
              </a:rPr>
              <a:t>PRICE THE OUTCOME.</a:t>
            </a:r>
          </a:p>
        </p:txBody>
      </p:sp>
      <p:sp>
        <p:nvSpPr>
          <p:cNvPr id="5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D7105F9-A44A-494C-8242-29F88FB8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981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4F1E8"/>
                </a:solidFill>
              </a:defRPr>
            </a:pPr>
            <a:r>
              <a:rPr sz="3000" b="1">
                <a:solidFill>
                  <a:srgbClr val="F4F1E8"/>
                </a:solidFill>
              </a:rPr>
              <a:t>MARKOUT turns LP protection from a prediction into a settlement.</a:t>
            </a:r>
          </a:p>
        </p:txBody>
      </p:sp>
      <p:sp>
        <p:nvSpPr>
          <p:cNvPr id="6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516F9F10-07F8-43E8-90D3-402B8EC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FFAD"/>
            </a:solidFill>
            <a:prstDash val="solid"/>
          </a:ln>
        </p:spPr>
      </p:sp>
      <p:sp>
        <p:nvSpPr>
          <p:cNvPr id="7" name="slide-9-proof">
            <a:extLst xmlns:a="http://schemas.openxmlformats.org/drawingml/2006/main">
              <a:ext uri="{FF2B5EF4-FFF2-40B4-BE49-F238E27FC236}">
                <a16:creationId xmlns:a16="http://schemas.microsoft.com/office/drawing/2014/main" id="{A9EDEDDD-85D7-45EA-81AE-CAFA367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9CA9B5"/>
                </a:solidFill>
              </a:defRPr>
            </a:pPr>
            <a:r>
              <a:rPr sz="1800">
                <a:solidFill>
                  <a:srgbClr val="9CA9B5"/>
                </a:solidFill>
              </a:rPr>
              <a:t>Negative markout settled in 38s → 100% rebated.</a:t>
            </a:r>
          </a:p>
          <a:p xmlns:a="http://schemas.openxmlformats.org/drawingml/2006/main">
            <a:pPr>
              <a:buNone/>
              <a:defRPr sz="1800">
                <a:solidFill>
                  <a:srgbClr val="9CA9B5"/>
                </a:solidFill>
              </a:defRPr>
            </a:pPr>
            <a:r>
              <a:rPr sz="1800">
                <a:solidFill>
                  <a:srgbClr val="9CA9B5"/>
                </a:solidFill>
              </a:rPr>
              <a:t>Positive markout settled in 67s → 100% retained.</a:t>
            </a:r>
          </a:p>
          <a:p xmlns:a="http://schemas.openxmlformats.org/drawingml/2006/main">
            <a:pPr>
              <a:buNone/>
              <a:defRPr sz="1800">
                <a:solidFill>
                  <a:srgbClr val="9CA9B5"/>
                </a:solidFill>
              </a:defRPr>
            </a:pPr>
            <a:r>
              <a:rPr sz="1800">
                <a:solidFill>
                  <a:srgbClr val="9CA9B5"/>
                </a:solidFill>
              </a:rPr>
              <a:t>Reactive callback reached Unichain in 11s.</a:t>
            </a:r>
          </a:p>
        </p:txBody>
      </p:sp>
      <p:sp>
        <p:nvSpPr>
          <p:cNvPr id="8" name="slide-9-gate">
            <a:extLst xmlns:a="http://schemas.openxmlformats.org/drawingml/2006/main">
              <a:ext uri="{FF2B5EF4-FFF2-40B4-BE49-F238E27FC236}">
                <a16:creationId xmlns:a16="http://schemas.microsoft.com/office/drawing/2014/main" id="{A649709C-C6BF-4356-8BF8-304B91F4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148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8AFFAD"/>
                </a:solidFill>
              </a:defRPr>
            </a:pPr>
            <a:r>
              <a:rPr sz="1650" b="1">
                <a:solidFill>
                  <a:srgbClr val="8AFFAD"/>
                </a:solidFill>
              </a:rPr>
              <a:t>100% REBATED
100% RETAINED</a:t>
            </a:r>
          </a:p>
        </p:txBody>
      </p:sp>
    </p:spTree>
    <p:extLst>
      <p:ext uri="{BB962C8B-B14F-4D97-AF65-F5344CB8AC3E}">
        <p14:creationId xmlns:p14="http://schemas.microsoft.com/office/powerpoint/2010/main" val="804622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2026-09-03T02:09:22.8470000Z</dcterms:created>
  <dcterms:modified xsi:type="dcterms:W3CDTF">2026-09-03T02:09:22.8470000Z</dcterms:modified>
</coreProperties>
</file>