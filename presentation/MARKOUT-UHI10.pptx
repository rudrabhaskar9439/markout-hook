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572df7314af4d1e" /><Relationship Type="http://schemas.openxmlformats.org/officeDocument/2006/relationships/extended-properties" Target="/docProps/app.xml" Id="R78b83017ddc2457f" /><Relationship Type="http://schemas.openxmlformats.org/officeDocument/2006/relationships/officeDocument" Target="/ppt/presentation.xml" Id="Ra02135ad6f4e40a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09a6135306c478f"/>
  </p:sldMasterIdLst>
  <p:notesMasterIdLst>
    <p:notesMasterId xmlns:r="http://schemas.openxmlformats.org/officeDocument/2006/relationships" r:id="R845b34fa9dab4111"/>
  </p:notesMasterIdLst>
  <p:sldIdLst>
    <p:sldId xmlns:r="http://schemas.openxmlformats.org/officeDocument/2006/relationships" id="256" r:id="Rb8ca0ea7ec8641d8"/>
    <p:sldId xmlns:r="http://schemas.openxmlformats.org/officeDocument/2006/relationships" id="257" r:id="R06d52f49f6034d0f"/>
    <p:sldId xmlns:r="http://schemas.openxmlformats.org/officeDocument/2006/relationships" id="258" r:id="Rfafce736516f4de1"/>
    <p:sldId xmlns:r="http://schemas.openxmlformats.org/officeDocument/2006/relationships" id="259" r:id="Rbd4e5ae6c1654d5e"/>
    <p:sldId xmlns:r="http://schemas.openxmlformats.org/officeDocument/2006/relationships" id="260" r:id="Rac5437ffdf5845a0"/>
    <p:sldId xmlns:r="http://schemas.openxmlformats.org/officeDocument/2006/relationships" id="261" r:id="R994ad5a243714ce0"/>
    <p:sldId xmlns:r="http://schemas.openxmlformats.org/officeDocument/2006/relationships" id="262" r:id="Rb20fedbe002345bf"/>
    <p:sldId xmlns:r="http://schemas.openxmlformats.org/officeDocument/2006/relationships" id="263" r:id="Rc2ce7644a0de4075"/>
    <p:sldId xmlns:r="http://schemas.openxmlformats.org/officeDocument/2006/relationships" id="264" r:id="R48b0f2f4d42848d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91473050832409a" /><Relationship Type="http://schemas.openxmlformats.org/officeDocument/2006/relationships/slideMaster" Target="/ppt/slideMasters/slideMaster1.xml" Id="Re09a6135306c478f" /><Relationship Type="http://schemas.openxmlformats.org/officeDocument/2006/relationships/notesMaster" Target="/ppt/notesMasters/notesMaster1.xml" Id="R845b34fa9dab4111" /><Relationship Type="http://schemas.openxmlformats.org/officeDocument/2006/relationships/presProps" Target="/ppt/presProps.xml" Id="Ra6a90c1e7e554010" /><Relationship Type="http://schemas.openxmlformats.org/officeDocument/2006/relationships/tableStyles" Target="/ppt/tableStyles.xml" Id="R13f4b395fef04dbe" /><Relationship Type="http://schemas.openxmlformats.org/officeDocument/2006/relationships/slide" Target="/ppt/slides/slide1.xml" Id="Rb8ca0ea7ec8641d8" /><Relationship Type="http://schemas.openxmlformats.org/officeDocument/2006/relationships/slide" Target="/ppt/slides/slide2.xml" Id="R06d52f49f6034d0f" /><Relationship Type="http://schemas.openxmlformats.org/officeDocument/2006/relationships/slide" Target="/ppt/slides/slide3.xml" Id="Rfafce736516f4de1" /><Relationship Type="http://schemas.openxmlformats.org/officeDocument/2006/relationships/slide" Target="/ppt/slides/slide4.xml" Id="Rbd4e5ae6c1654d5e" /><Relationship Type="http://schemas.openxmlformats.org/officeDocument/2006/relationships/slide" Target="/ppt/slides/slide5.xml" Id="Rac5437ffdf5845a0" /><Relationship Type="http://schemas.openxmlformats.org/officeDocument/2006/relationships/slide" Target="/ppt/slides/slide6.xml" Id="R994ad5a243714ce0" /><Relationship Type="http://schemas.openxmlformats.org/officeDocument/2006/relationships/slide" Target="/ppt/slides/slide7.xml" Id="Rb20fedbe002345bf" /><Relationship Type="http://schemas.openxmlformats.org/officeDocument/2006/relationships/slide" Target="/ppt/slides/slide8.xml" Id="Rc2ce7644a0de4075" /><Relationship Type="http://schemas.openxmlformats.org/officeDocument/2006/relationships/slide" Target="/ppt/slides/slide9.xml" Id="R48b0f2f4d42848d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c2ec3cdf02c458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751756ce1a449f9" /><Relationship Type="http://schemas.openxmlformats.org/officeDocument/2006/relationships/notesMaster" Target="/ppt/notesMasters/notesMaster1.xml" Id="R1cf3f0ddfba9405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ab225c7b8e14265" /><Relationship Type="http://schemas.openxmlformats.org/officeDocument/2006/relationships/notesMaster" Target="/ppt/notesMasters/notesMaster1.xml" Id="R36776e38abdf41e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3448dc65e364764" /><Relationship Type="http://schemas.openxmlformats.org/officeDocument/2006/relationships/notesMaster" Target="/ppt/notesMasters/notesMaster1.xml" Id="Rd65314d9e7ee444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6493f8436f64a51" /><Relationship Type="http://schemas.openxmlformats.org/officeDocument/2006/relationships/notesMaster" Target="/ppt/notesMasters/notesMaster1.xml" Id="R7a92819e9af54fe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15ecbb33ad047c4" /><Relationship Type="http://schemas.openxmlformats.org/officeDocument/2006/relationships/notesMaster" Target="/ppt/notesMasters/notesMaster1.xml" Id="R8467ba82b447488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1062b3e4f7d487f" /><Relationship Type="http://schemas.openxmlformats.org/officeDocument/2006/relationships/notesMaster" Target="/ppt/notesMasters/notesMaster1.xml" Id="Rf6d04093bb364e3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479061850664358" /><Relationship Type="http://schemas.openxmlformats.org/officeDocument/2006/relationships/notesMaster" Target="/ppt/notesMasters/notesMaster1.xml" Id="Ra19ff924330e47b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707b9a173f44cbf" /><Relationship Type="http://schemas.openxmlformats.org/officeDocument/2006/relationships/notesMaster" Target="/ppt/notesMasters/notesMaster1.xml" Id="R34742c155b3c4fe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39b7e33042146e3" /><Relationship Type="http://schemas.openxmlformats.org/officeDocument/2006/relationships/notesMaster" Target="/ppt/notesMasters/notesMaster1.xml" Id="R68a0b087b4e74db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research question: can an AMM wait for the outcome before deciding how much protection to retain?</a:t>
            </a:r>
          </a:p>
          <a:p xmlns:a="http://schemas.openxmlformats.org/drawingml/2006/main">
            <a:r>
              <a:t>Frame Reactive as a lightweight optional accelerator; Circle is the primary authenticated settlement route.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web/public/og.png</a:t>
            </a:r>
          </a:p>
          <a:p xmlns:a="http://schemas.openxmlformats.org/drawingml/2006/main">
            <a:r>
              <a:t>- docs/HYBRID_SETTLEMENT.md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volatility is useful but cannot attribute information content to an individual realized trade.</a:t>
            </a:r>
          </a:p>
          <a:p xmlns:a="http://schemas.openxmlformats.org/drawingml/2006/main">
            <a:r>
              <a:t>MARKOUT does not predict intent or blacklist a trader; it observes a directional price outcome.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docs/MECHANISM.md</a:t>
            </a:r>
          </a:p>
          <a:p xmlns:a="http://schemas.openxmlformats.org/drawingml/2006/main">
            <a:r>
              <a:t>- experiments/README.md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right: the publisher verifies Pyth, and the hook still applies the frozen curve after authenticated delivery.</a:t>
            </a:r>
          </a:p>
          <a:p xmlns:a="http://schemas.openxmlformats.org/drawingml/2006/main">
            <a:r>
              <a:t>Emphasize conservation and the fail-open expiry path.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docs/MECHANISM.md</a:t>
            </a:r>
          </a:p>
          <a:p xmlns:a="http://schemas.openxmlformats.org/drawingml/2006/main">
            <a:r>
              <a:t>- docs/ACCOUNTING.md</a:t>
            </a:r>
          </a:p>
          <a:p xmlns:a="http://schemas.openxmlformats.org/drawingml/2006/main">
            <a:r>
              <a:t>- docs/HYBRID_SETTLEMENT.md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informed bar first: MARKOUT retains the most only where the markout is adverse.</a:t>
            </a:r>
          </a:p>
          <a:p xmlns:a="http://schemas.openxmlformats.org/drawingml/2006/main">
            <a:r>
              <a:t>Then compare benign and inventory-improving flow against the volatility baseline.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experiments/charts/effective_fee_by_flow.svg</a:t>
            </a:r>
          </a:p>
          <a:p xmlns:a="http://schemas.openxmlformats.org/drawingml/2006/main">
            <a:r>
              <a:t>- experiments/results/flow_summary.csv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Every policy receives the same seeded 768-trade tape, so the comparison isolates fee allocation.</a:t>
            </a:r>
          </a:p>
          <a:p xmlns:a="http://schemas.openxmlformats.org/drawingml/2006/main">
            <a:r>
              <a:t>State the regression clearly: the volatility baseline earns more overall because it charges benign and inventory-improving flow more.</a:t>
            </a:r>
          </a:p>
          <a:p xmlns:a="http://schemas.openxmlformats.org/drawingml/2006/main">
            <a:r>
              <a:t>The proxy is not exact LVR or individual LP PnL.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experiments/charts/lp_net_after_proxy.svg</a:t>
            </a:r>
          </a:p>
          <a:p xmlns:a="http://schemas.openxmlformats.org/drawingml/2006/main">
            <a:r>
              <a:t>- experiments/results/report.md</a:t>
            </a:r>
          </a:p>
          <a:p xmlns:a="http://schemas.openxmlformats.org/drawingml/2006/main">
            <a:r>
              <a:t>- https://arxiv.org/abs/2208.06046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 the chart to the hook invariant: pending, claimable, and reserve balances always reconcile with held assets.</a:t>
            </a:r>
          </a:p>
          <a:p xmlns:a="http://schemas.openxmlformats.org/drawingml/2006/main">
            <a:r>
              <a:t>The 63 invalid observations are not forced into LP protection; they fail open to a full rebate.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experiments/charts/markout_rebate_and_protection.svg</a:t>
            </a:r>
          </a:p>
          <a:p xmlns:a="http://schemas.openxmlformats.org/drawingml/2006/main">
            <a:r>
              <a:t>- experiments/results/report.md</a:t>
            </a:r>
          </a:p>
          <a:p xmlns:a="http://schemas.openxmlformats.org/drawingml/2006/main">
            <a:r>
              <a:t>- docs/ACCOUNTING.md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Circle carries the Pyth-verified observation as the primary authenticated message path.</a:t>
            </a:r>
          </a:p>
          <a:p xmlns:a="http://schemas.openxmlformats.org/drawingml/2006/main">
            <a:r>
              <a:t>The stateless Reactive pulse can mirror the same event, while the coordinator makes duplicate delivery harmless.</a:t>
            </a:r>
          </a:p>
          <a:p xmlns:a="http://schemas.openxmlformats.org/drawingml/2006/main">
            <a:r>
              <a:t>The hook retains custody, maturity checks, economic validation, settlement, and permissionless expiry.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docs/HYBRID_SETTLEMENT.md</a:t>
            </a:r>
          </a:p>
          <a:p xmlns:a="http://schemas.openxmlformats.org/drawingml/2006/main">
            <a:r>
              <a:t>- docs/THREAT_MODEL.md</a:t>
            </a:r>
          </a:p>
          <a:p xmlns:a="http://schemas.openxmlformats.org/drawingml/2006/main">
            <a:r>
              <a:t>- docs/PHASE_12_VERIFICATION.md</a:t>
            </a:r>
          </a:p>
          <a:p xmlns:a="http://schemas.openxmlformats.org/drawingml/2006/main">
            <a:r>
              <a:t>- docs/PHASE_13_VERIFICATION.md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cumulative gate includes adversarial authorization, reentrancy, expiry, oracle failure, replay, transport races, and insolvency cases.</a:t>
            </a:r>
          </a:p>
          <a:p xmlns:a="http://schemas.openxmlformats.org/drawingml/2006/main">
            <a:r>
              <a:t>Keep the boundary explicit: this is production-shaped and internally hardened, not independently audited.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docs/PHASE_7_VERIFICATION.md</a:t>
            </a:r>
          </a:p>
          <a:p xmlns:a="http://schemas.openxmlformats.org/drawingml/2006/main">
            <a:r>
              <a:t>- docs/PHASE_11_VERIFICATION.md</a:t>
            </a:r>
          </a:p>
          <a:p xmlns:a="http://schemas.openxmlformats.org/drawingml/2006/main">
            <a:r>
              <a:t>- docs/PHASE_12_VERIFICATION.md</a:t>
            </a:r>
          </a:p>
          <a:p xmlns:a="http://schemas.openxmlformats.org/drawingml/2006/main">
            <a:r>
              <a:t>- docs/PHASE_13_VERIFICATION.md</a:t>
            </a:r>
          </a:p>
          <a:p xmlns:a="http://schemas.openxmlformats.org/drawingml/2006/main">
            <a:r>
              <a:t>- docs/STATIC_ANALYSIS.md</a:t>
            </a:r>
          </a:p>
          <a:p xmlns:a="http://schemas.openxmlformats.org/drawingml/2006/main">
            <a:r>
              <a:t>- experiments/results/report.md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Resolve the opening: MARKOUT does not need to predict intent before execution; it settles what the post-trade outcome supports.</a:t>
            </a:r>
          </a:p>
          <a:p xmlns:a="http://schemas.openxmlformats.org/drawingml/2006/main">
            <a:r>
              <a:t>Public proof: the final Ethereum Sepolia publisher block timestamp was 1787307432 and the Unichain settlement block timestamp was 1787307470, a 38-second source-to-destination latency.</a:t>
            </a:r>
          </a:p>
          <a:p xmlns:a="http://schemas.openxmlformats.org/drawingml/2006/main">
            <a:r>
              <a:t>The Pyth observation timestamp was 1787307424, so the hook accepted it at 46 seconds of age, within the configured 120-second maximum.</a:t>
            </a:r>
          </a:p>
          <a:p xmlns:a="http://schemas.openxmlformats.org/drawingml/2006/main">
            <a:r>
              <a:t>The trade escrowed 622 USDC base units; negative markout allocated 0 to LP protection and all 622 to the trader rebate, which was claimed publicly.</a:t>
            </a:r>
          </a:p>
          <a:p xmlns:a="http://schemas.openxmlformats.org/drawingml/2006/main">
            <a:r>
              <a:t>Reactive remains optional: its legacy pulse is deployed and subscribed, but no successful public Unichain callback is claimed.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deployments/hybrid-2026-08-21.json</a:t>
            </a:r>
          </a:p>
          <a:p xmlns:a="http://schemas.openxmlformats.org/drawingml/2006/main">
            <a:r>
              <a:t>- https://sepolia.etherscan.io/tx/0xed6af5c42e554c221078110d6db03fba8fd74bf24a88cf52494d4e605a31f6ca</a:t>
            </a:r>
          </a:p>
          <a:p xmlns:a="http://schemas.openxmlformats.org/drawingml/2006/main">
            <a:r>
              <a:t>- https://sepolia.uniscan.xyz/tx/0xa64789b5a08ea8aae8c2b909b6a81b495334b707eaae12610bf3749902ec532f</a:t>
            </a:r>
          </a:p>
          <a:p xmlns:a="http://schemas.openxmlformats.org/drawingml/2006/main">
            <a:r>
              <a:t>- https://sepolia.uniscan.xyz/tx/0xa6ded637a8c9651f252e302f7cedec2969d637f733777f7f2ad71ac700d64630</a:t>
            </a:r>
          </a:p>
          <a:p xmlns:a="http://schemas.openxmlformats.org/drawingml/2006/main">
            <a:r>
              <a:t>- https://developers.circle.com/cctp/concepts/finality-and-block-confirmations</a:t>
            </a:r>
          </a:p>
          <a:p xmlns:a="http://schemas.openxmlformats.org/drawingml/2006/main">
            <a:r>
              <a:t>- https://docs.pyth.network/price-feeds/core/fetch-price-updates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1c6a6988034ac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f0ce92970e840f3" /><Relationship Type="http://schemas.openxmlformats.org/officeDocument/2006/relationships/slideLayout" Target="/ppt/slideLayouts/slideLayout1.xml" Id="R6c47b0d0896e4c9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c47b0d0896e4c9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a87211bb9049e4" /><Relationship Type="http://schemas.openxmlformats.org/officeDocument/2006/relationships/image" Target="/ppt/media/image.png" Id="R5ce7ecbfb5f14080" /><Relationship Type="http://schemas.openxmlformats.org/officeDocument/2006/relationships/notesSlide" Target="/ppt/notesSlides/notesSlide1.xml" Id="Rf4405a7503e8427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d2b9f216c1499e" /><Relationship Type="http://schemas.openxmlformats.org/officeDocument/2006/relationships/notesSlide" Target="/ppt/notesSlides/notesSlide2.xml" Id="R6d496c25a996454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4a58cab3f64ea3" /><Relationship Type="http://schemas.openxmlformats.org/officeDocument/2006/relationships/notesSlide" Target="/ppt/notesSlides/notesSlide3.xml" Id="R522b580edc4d442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e7d08a3a744548" /><Relationship Type="http://schemas.openxmlformats.org/officeDocument/2006/relationships/image" Target="/ppt/media/image2.png" Id="R77536b811ede4991" /><Relationship Type="http://schemas.openxmlformats.org/officeDocument/2006/relationships/notesSlide" Target="/ppt/notesSlides/notesSlide4.xml" Id="Rcb2a059e3ffc4d7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77b37002274b19" /><Relationship Type="http://schemas.openxmlformats.org/officeDocument/2006/relationships/image" Target="/ppt/media/image3.png" Id="R771ae37d29fe49f1" /><Relationship Type="http://schemas.openxmlformats.org/officeDocument/2006/relationships/notesSlide" Target="/ppt/notesSlides/notesSlide5.xml" Id="Rd389563d56834c4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287a9f1a8d49ed" /><Relationship Type="http://schemas.openxmlformats.org/officeDocument/2006/relationships/image" Target="/ppt/media/image4.png" Id="R4cdf948bc6b44870" /><Relationship Type="http://schemas.openxmlformats.org/officeDocument/2006/relationships/notesSlide" Target="/ppt/notesSlides/notesSlide6.xml" Id="R88fd82424d4443a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a7822ab3f94f96" /><Relationship Type="http://schemas.openxmlformats.org/officeDocument/2006/relationships/notesSlide" Target="/ppt/notesSlides/notesSlide7.xml" Id="R0c8b405f8be7434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eafe67a4a14a1f" /><Relationship Type="http://schemas.openxmlformats.org/officeDocument/2006/relationships/notesSlide" Target="/ppt/notesSlides/notesSlide8.xml" Id="R44a7c264d57449d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147e3e7ad74dff" /><Relationship Type="http://schemas.openxmlformats.org/officeDocument/2006/relationships/notesSlide" Target="/ppt/notesSlides/notesSlide9.xml" Id="Ra431d2e647714c3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e7ecbfb5f14080"/>
          <a:stretch xmlns:a="http://schemas.openxmlformats.org/drawingml/2006/main"/>
        </p:blipFill>
        <p:spPr>
          <a:xfrm xmlns:a="http://schemas.openxmlformats.org/drawingml/2006/main">
            <a:off x="0" y="228600"/>
            <a:ext cx="12192000" cy="64008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5271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eyebrow-2">
            <a:extLst xmlns:a="http://schemas.openxmlformats.org/drawingml/2006/main">
              <a:ext uri="{FF2B5EF4-FFF2-40B4-BE49-F238E27FC236}">
                <a16:creationId xmlns:a16="http://schemas.microsoft.com/office/drawing/2014/main" id="{D2B1870E-0096-4B4A-9E19-8B4BC2AB2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THE GAP</a:t>
            </a:r>
          </a:p>
        </p:txBody>
      </p:sp>
      <p:sp>
        <p:nvSpPr>
          <p:cNvPr id="2" name="footer-2">
            <a:extLst xmlns:a="http://schemas.openxmlformats.org/drawingml/2006/main">
              <a:ext uri="{FF2B5EF4-FFF2-40B4-BE49-F238E27FC236}">
                <a16:creationId xmlns:a16="http://schemas.microsoft.com/office/drawing/2014/main" id="{1090B1E3-EB85-46DD-BB9F-C8EAE340A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2 / 9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B2D4EE01-FE0C-461B-97C2-D959BC5DF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59D3CE18-2C7D-4F3C-AB84-8D060D593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Volatility sees risk. It does not see who caused it.</a:t>
            </a:r>
          </a:p>
        </p:txBody>
      </p:sp>
      <p:sp>
        <p:nvSpPr>
          <p:cNvPr id="5" name="volatility-label">
            <a:extLst xmlns:a="http://schemas.openxmlformats.org/drawingml/2006/main">
              <a:ext uri="{FF2B5EF4-FFF2-40B4-BE49-F238E27FC236}">
                <a16:creationId xmlns:a16="http://schemas.microsoft.com/office/drawing/2014/main" id="{9041FBBC-1ED0-4F52-B5DF-9B2FD932F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9E0B"/>
                </a:solidFill>
              </a:defRPr>
            </a:pPr>
            <a:r>
              <a:rPr sz="1275" b="1">
                <a:solidFill>
                  <a:srgbClr val="F59E0B"/>
                </a:solidFill>
              </a:rPr>
              <a:t>VOLATILITY FEE</a:t>
            </a:r>
          </a:p>
        </p:txBody>
      </p:sp>
      <p:sp>
        <p:nvSpPr>
          <p:cNvPr id="6" name="volatility-equation">
            <a:extLst xmlns:a="http://schemas.openxmlformats.org/drawingml/2006/main">
              <a:ext uri="{FF2B5EF4-FFF2-40B4-BE49-F238E27FC236}">
                <a16:creationId xmlns:a16="http://schemas.microsoft.com/office/drawing/2014/main" id="{F8C1EF9C-BA55-4D1F-8CAC-EADE6F8A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57450"/>
            <a:ext cx="4524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F4F1E8"/>
                </a:solidFill>
              </a:defRPr>
            </a:pPr>
            <a:r>
              <a:rPr sz="2700" b="1">
                <a:solidFill>
                  <a:srgbClr val="F4F1E8"/>
                </a:solidFill>
              </a:rPr>
              <a:t>fee = f(market state)</a:t>
            </a:r>
          </a:p>
        </p:txBody>
      </p:sp>
      <p:sp>
        <p:nvSpPr>
          <p:cNvPr id="7" name="volatility-body">
            <a:extLst xmlns:a="http://schemas.openxmlformats.org/drawingml/2006/main">
              <a:ext uri="{FF2B5EF4-FFF2-40B4-BE49-F238E27FC236}">
                <a16:creationId xmlns:a16="http://schemas.microsoft.com/office/drawing/2014/main" id="{97F6F05A-342B-4711-9479-C8DFB851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14700"/>
            <a:ext cx="4476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CA9B5"/>
                </a:solidFill>
              </a:defRPr>
            </a:pPr>
            <a:r>
              <a:rPr sz="1575">
                <a:solidFill>
                  <a:srgbClr val="9CA9B5"/>
                </a:solidFill>
              </a:rPr>
              <a:t>Benign, informed, and inventory-improving flow can all pay more together.</a:t>
            </a:r>
          </a:p>
        </p:txBody>
      </p:sp>
      <p:sp>
        <p:nvSpPr>
          <p:cNvPr id="8" name="not-equal">
            <a:extLst xmlns:a="http://schemas.openxmlformats.org/drawingml/2006/main">
              <a:ext uri="{FF2B5EF4-FFF2-40B4-BE49-F238E27FC236}">
                <a16:creationId xmlns:a16="http://schemas.microsoft.com/office/drawing/2014/main" id="{7C4ACB42-53E0-4AB5-9209-C7301A124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667000"/>
            <a:ext cx="1066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800" b="1">
                <a:solidFill>
                  <a:srgbClr val="34414B"/>
                </a:solidFill>
              </a:defRPr>
            </a:pPr>
            <a:r>
              <a:rPr sz="4800" b="1">
                <a:solidFill>
                  <a:srgbClr val="34414B"/>
                </a:solidFill>
              </a:rPr>
              <a:t>≠</a:t>
            </a:r>
          </a:p>
        </p:txBody>
      </p:sp>
      <p:sp>
        <p:nvSpPr>
          <p:cNvPr id="9" name="markout-label">
            <a:extLst xmlns:a="http://schemas.openxmlformats.org/drawingml/2006/main">
              <a:ext uri="{FF2B5EF4-FFF2-40B4-BE49-F238E27FC236}">
                <a16:creationId xmlns:a16="http://schemas.microsoft.com/office/drawing/2014/main" id="{DD1C7131-1A2E-450C-BF5C-F58F7E6A7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955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8AFFAD"/>
                </a:solidFill>
              </a:defRPr>
            </a:pPr>
            <a:r>
              <a:rPr sz="1275" b="1">
                <a:solidFill>
                  <a:srgbClr val="8AFFAD"/>
                </a:solidFill>
              </a:rPr>
              <a:t>MARKOUT</a:t>
            </a:r>
          </a:p>
        </p:txBody>
      </p:sp>
      <p:sp>
        <p:nvSpPr>
          <p:cNvPr id="10" name="markout-equation">
            <a:extLst xmlns:a="http://schemas.openxmlformats.org/drawingml/2006/main">
              <a:ext uri="{FF2B5EF4-FFF2-40B4-BE49-F238E27FC236}">
                <a16:creationId xmlns:a16="http://schemas.microsoft.com/office/drawing/2014/main" id="{44D10FA1-605A-4614-BFEA-65693B2A8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57450"/>
            <a:ext cx="447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F4F1E8"/>
                </a:solidFill>
              </a:defRPr>
            </a:pPr>
            <a:r>
              <a:rPr sz="2700" b="1">
                <a:solidFill>
                  <a:srgbClr val="F4F1E8"/>
                </a:solidFill>
              </a:rPr>
              <a:t>fee = f(realized outcome)</a:t>
            </a:r>
          </a:p>
        </p:txBody>
      </p:sp>
      <p:sp>
        <p:nvSpPr>
          <p:cNvPr id="11" name="markout-body">
            <a:extLst xmlns:a="http://schemas.openxmlformats.org/drawingml/2006/main">
              <a:ext uri="{FF2B5EF4-FFF2-40B4-BE49-F238E27FC236}">
                <a16:creationId xmlns:a16="http://schemas.microsoft.com/office/drawing/2014/main" id="{1A0D12D6-CAEE-4D93-9707-A824CF91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14700"/>
            <a:ext cx="4476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CA9B5"/>
                </a:solidFill>
              </a:defRPr>
            </a:pPr>
            <a:r>
              <a:rPr sz="1575">
                <a:solidFill>
                  <a:srgbClr val="9CA9B5"/>
                </a:solidFill>
              </a:rPr>
              <a:t>The final allocation follows directional post-trade evidence—not wallet identity.</a:t>
            </a:r>
          </a:p>
        </p:txBody>
      </p:sp>
      <p:sp>
        <p:nvSpPr>
          <p:cNvPr id="12" name="slide-2-accent">
            <a:extLst xmlns:a="http://schemas.openxmlformats.org/drawingml/2006/main">
              <a:ext uri="{FF2B5EF4-FFF2-40B4-BE49-F238E27FC236}">
                <a16:creationId xmlns:a16="http://schemas.microsoft.com/office/drawing/2014/main" id="{F5E1F5FF-E286-4150-8B95-A80191F50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62500"/>
            <a:ext cx="1047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AFFAD"/>
            </a:solidFill>
            <a:prstDash val="solid"/>
          </a:ln>
        </p:spPr>
      </p:sp>
      <p:sp>
        <p:nvSpPr>
          <p:cNvPr id="13" name="slide-2-close">
            <a:extLst xmlns:a="http://schemas.openxmlformats.org/drawingml/2006/main">
              <a:ext uri="{FF2B5EF4-FFF2-40B4-BE49-F238E27FC236}">
                <a16:creationId xmlns:a16="http://schemas.microsoft.com/office/drawing/2014/main" id="{F900E6FC-8DBB-4A14-BD67-431EACA2A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0062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8AFFAD"/>
                </a:solidFill>
              </a:defRPr>
            </a:pPr>
            <a:r>
              <a:rPr sz="2100" b="1">
                <a:solidFill>
                  <a:srgbClr val="8AFFAD"/>
                </a:solidFill>
              </a:rPr>
              <a:t>Classify the outcome, then settle the protection.</a:t>
            </a:r>
          </a:p>
        </p:txBody>
      </p:sp>
    </p:spTree>
    <p:extLst>
      <p:ext uri="{BB962C8B-B14F-4D97-AF65-F5344CB8AC3E}">
        <p14:creationId xmlns:p14="http://schemas.microsoft.com/office/powerpoint/2010/main" val="133508061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eyebrow-3">
            <a:extLst xmlns:a="http://schemas.openxmlformats.org/drawingml/2006/main">
              <a:ext uri="{FF2B5EF4-FFF2-40B4-BE49-F238E27FC236}">
                <a16:creationId xmlns:a16="http://schemas.microsoft.com/office/drawing/2014/main" id="{9CCDC7BA-092C-4B0F-8B85-460A86235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MECHANISM</a:t>
            </a:r>
          </a:p>
        </p:txBody>
      </p:sp>
      <p:sp>
        <p:nvSpPr>
          <p:cNvPr id="2" name="footer-3">
            <a:extLst xmlns:a="http://schemas.openxmlformats.org/drawingml/2006/main">
              <a:ext uri="{FF2B5EF4-FFF2-40B4-BE49-F238E27FC236}">
                <a16:creationId xmlns:a16="http://schemas.microsoft.com/office/drawing/2014/main" id="{EB5A8531-DDA4-4BF4-BE28-24CB2AA3D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3 / 9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A723E011-5025-457B-97FA-04C6D247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BE9E8C8C-A3ED-48EF-89DF-F0D7A7FC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MARKOUT prices flow after it reveals itself.</a:t>
            </a:r>
          </a:p>
        </p:txBody>
      </p:sp>
      <p:sp>
        <p:nvSpPr>
          <p:cNvPr id="5" name="slide-3-subtitle">
            <a:extLst xmlns:a="http://schemas.openxmlformats.org/drawingml/2006/main">
              <a:ext uri="{FF2B5EF4-FFF2-40B4-BE49-F238E27FC236}">
                <a16:creationId xmlns:a16="http://schemas.microsoft.com/office/drawing/2014/main" id="{7D3B8119-7463-4F5A-8AFB-1BDBCE3F3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CA9B5"/>
                </a:solidFill>
              </a:defRPr>
            </a:pPr>
            <a:r>
              <a:rPr sz="1575">
                <a:solidFill>
                  <a:srgbClr val="9CA9B5"/>
                </a:solidFill>
              </a:rPr>
              <a:t>A bounded provisional surcharge becomes either trader rebate or LP protection.</a:t>
            </a:r>
          </a:p>
        </p:txBody>
      </p:sp>
      <p:sp>
        <p:nvSpPr>
          <p:cNvPr id="6" name="mechanism-node-1">
            <a:extLst xmlns:a="http://schemas.openxmlformats.org/drawingml/2006/main">
              <a:ext uri="{FF2B5EF4-FFF2-40B4-BE49-F238E27FC236}">
                <a16:creationId xmlns:a16="http://schemas.microsoft.com/office/drawing/2014/main" id="{9042057C-744D-470F-949D-9B938B25B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18669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61B"/>
          </a:solidFill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7" name="mechanism-index-1">
            <a:extLst xmlns:a="http://schemas.openxmlformats.org/drawingml/2006/main">
              <a:ext uri="{FF2B5EF4-FFF2-40B4-BE49-F238E27FC236}">
                <a16:creationId xmlns:a16="http://schemas.microsoft.com/office/drawing/2014/main" id="{70EDDBF5-BE68-4DDB-BC1E-BAD5BD23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432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8AFFAD"/>
                </a:solidFill>
              </a:defRPr>
            </a:pPr>
            <a:r>
              <a:rPr sz="1275" b="1">
                <a:solidFill>
                  <a:srgbClr val="8AFFAD"/>
                </a:solidFill>
              </a:rPr>
              <a:t>1</a:t>
            </a:r>
          </a:p>
        </p:txBody>
      </p:sp>
      <p:sp>
        <p:nvSpPr>
          <p:cNvPr id="8" name="mechanism-label-1">
            <a:extLst xmlns:a="http://schemas.openxmlformats.org/drawingml/2006/main">
              <a:ext uri="{FF2B5EF4-FFF2-40B4-BE49-F238E27FC236}">
                <a16:creationId xmlns:a16="http://schemas.microsoft.com/office/drawing/2014/main" id="{CF0A5C51-8F50-4831-9DF2-B3A750393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146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4F1E8"/>
                </a:solidFill>
              </a:defRPr>
            </a:pPr>
            <a:r>
              <a:rPr sz="1425" b="1">
                <a:solidFill>
                  <a:srgbClr val="F4F1E8"/>
                </a:solidFill>
              </a:rPr>
              <a:t>EXECUTE</a:t>
            </a:r>
          </a:p>
        </p:txBody>
      </p:sp>
      <p:sp>
        <p:nvSpPr>
          <p:cNvPr id="9" name="mechanism-body-1">
            <a:extLst xmlns:a="http://schemas.openxmlformats.org/drawingml/2006/main">
              <a:ext uri="{FF2B5EF4-FFF2-40B4-BE49-F238E27FC236}">
                <a16:creationId xmlns:a16="http://schemas.microsoft.com/office/drawing/2014/main" id="{0D92CFD0-92B1-4402-A35E-0D8050FF6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14725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v4 swap collects</a:t>
            </a:r>
          </a:p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a bounded surcharge</a:t>
            </a:r>
          </a:p>
        </p:txBody>
      </p:sp>
      <p:sp>
        <p:nvSpPr>
          <p:cNvPr id="10" name="mechanism-node-2">
            <a:extLst xmlns:a="http://schemas.openxmlformats.org/drawingml/2006/main">
              <a:ext uri="{FF2B5EF4-FFF2-40B4-BE49-F238E27FC236}">
                <a16:creationId xmlns:a16="http://schemas.microsoft.com/office/drawing/2014/main" id="{0FA66BC1-BF04-4D6F-A838-4A07B464A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571750"/>
            <a:ext cx="18669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61B"/>
          </a:solidFill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11" name="mechanism-index-2">
            <a:extLst xmlns:a="http://schemas.openxmlformats.org/drawingml/2006/main">
              <a:ext uri="{FF2B5EF4-FFF2-40B4-BE49-F238E27FC236}">
                <a16:creationId xmlns:a16="http://schemas.microsoft.com/office/drawing/2014/main" id="{789B9BB6-B941-4B5C-899D-4ED8D356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432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8AFFAD"/>
                </a:solidFill>
              </a:defRPr>
            </a:pPr>
            <a:r>
              <a:rPr sz="1275" b="1">
                <a:solidFill>
                  <a:srgbClr val="8AFFAD"/>
                </a:solidFill>
              </a:rPr>
              <a:t>2</a:t>
            </a:r>
          </a:p>
        </p:txBody>
      </p:sp>
      <p:sp>
        <p:nvSpPr>
          <p:cNvPr id="12" name="mechanism-label-2">
            <a:extLst xmlns:a="http://schemas.openxmlformats.org/drawingml/2006/main">
              <a:ext uri="{FF2B5EF4-FFF2-40B4-BE49-F238E27FC236}">
                <a16:creationId xmlns:a16="http://schemas.microsoft.com/office/drawing/2014/main" id="{FBC4D72C-B0A6-41C9-AEFD-EBC7F33EA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146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4F1E8"/>
                </a:solidFill>
              </a:defRPr>
            </a:pPr>
            <a:r>
              <a:rPr sz="1425" b="1">
                <a:solidFill>
                  <a:srgbClr val="F4F1E8"/>
                </a:solidFill>
              </a:rPr>
              <a:t>WAIT</a:t>
            </a:r>
          </a:p>
        </p:txBody>
      </p:sp>
      <p:sp>
        <p:nvSpPr>
          <p:cNvPr id="13" name="mechanism-body-2">
            <a:extLst xmlns:a="http://schemas.openxmlformats.org/drawingml/2006/main">
              <a:ext uri="{FF2B5EF4-FFF2-40B4-BE49-F238E27FC236}">
                <a16:creationId xmlns:a16="http://schemas.microsoft.com/office/drawing/2014/main" id="{FD6C40C8-C621-4F20-B8FC-D2C5E1D8D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514725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five-minute</a:t>
            </a:r>
          </a:p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maturity window</a:t>
            </a:r>
          </a:p>
        </p:txBody>
      </p:sp>
      <p:sp>
        <p:nvSpPr>
          <p:cNvPr id="14" name="mechanism-node-3">
            <a:extLst xmlns:a="http://schemas.openxmlformats.org/drawingml/2006/main">
              <a:ext uri="{FF2B5EF4-FFF2-40B4-BE49-F238E27FC236}">
                <a16:creationId xmlns:a16="http://schemas.microsoft.com/office/drawing/2014/main" id="{62271572-6AF7-45EF-A209-B2414FD7E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571750"/>
            <a:ext cx="18669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61B"/>
          </a:solidFill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15" name="mechanism-index-3">
            <a:extLst xmlns:a="http://schemas.openxmlformats.org/drawingml/2006/main">
              <a:ext uri="{FF2B5EF4-FFF2-40B4-BE49-F238E27FC236}">
                <a16:creationId xmlns:a16="http://schemas.microsoft.com/office/drawing/2014/main" id="{9A06B4AD-8FF1-499B-BFEC-DC2536470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432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8AFFAD"/>
                </a:solidFill>
              </a:defRPr>
            </a:pPr>
            <a:r>
              <a:rPr sz="1275" b="1">
                <a:solidFill>
                  <a:srgbClr val="8AFFAD"/>
                </a:solidFill>
              </a:rPr>
              <a:t>3</a:t>
            </a:r>
          </a:p>
        </p:txBody>
      </p:sp>
      <p:sp>
        <p:nvSpPr>
          <p:cNvPr id="16" name="mechanism-label-3">
            <a:extLst xmlns:a="http://schemas.openxmlformats.org/drawingml/2006/main">
              <a:ext uri="{FF2B5EF4-FFF2-40B4-BE49-F238E27FC236}">
                <a16:creationId xmlns:a16="http://schemas.microsoft.com/office/drawing/2014/main" id="{5F819087-DDED-4B72-9525-3D1228E62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1146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4F1E8"/>
                </a:solidFill>
              </a:defRPr>
            </a:pPr>
            <a:r>
              <a:rPr sz="1425" b="1">
                <a:solidFill>
                  <a:srgbClr val="F4F1E8"/>
                </a:solidFill>
              </a:rPr>
              <a:t>OBSERVE</a:t>
            </a:r>
          </a:p>
        </p:txBody>
      </p:sp>
      <p:sp>
        <p:nvSpPr>
          <p:cNvPr id="17" name="mechanism-body-3">
            <a:extLst xmlns:a="http://schemas.openxmlformats.org/drawingml/2006/main">
              <a:ext uri="{FF2B5EF4-FFF2-40B4-BE49-F238E27FC236}">
                <a16:creationId xmlns:a16="http://schemas.microsoft.com/office/drawing/2014/main" id="{500D8A11-FC11-460C-810F-6A3D40A9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514725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Pyth-verified</a:t>
            </a:r>
          </a:p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price observation</a:t>
            </a:r>
          </a:p>
        </p:txBody>
      </p:sp>
      <p:sp>
        <p:nvSpPr>
          <p:cNvPr id="18" name="mechanism-node-4">
            <a:extLst xmlns:a="http://schemas.openxmlformats.org/drawingml/2006/main">
              <a:ext uri="{FF2B5EF4-FFF2-40B4-BE49-F238E27FC236}">
                <a16:creationId xmlns:a16="http://schemas.microsoft.com/office/drawing/2014/main" id="{1A9C931B-8D56-4C47-AACE-B2EC5E4F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571750"/>
            <a:ext cx="18669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31C23"/>
          </a:solidFill>
          <a:ln xmlns:a="http://schemas.openxmlformats.org/drawingml/2006/main" w="19050">
            <a:solidFill>
              <a:srgbClr val="8AFFAD"/>
            </a:solidFill>
            <a:prstDash val="solid"/>
          </a:ln>
        </p:spPr>
      </p:sp>
      <p:sp>
        <p:nvSpPr>
          <p:cNvPr id="19" name="mechanism-index-4">
            <a:extLst xmlns:a="http://schemas.openxmlformats.org/drawingml/2006/main">
              <a:ext uri="{FF2B5EF4-FFF2-40B4-BE49-F238E27FC236}">
                <a16:creationId xmlns:a16="http://schemas.microsoft.com/office/drawing/2014/main" id="{2BE70219-5A9E-4EA4-B21A-03F7A9F28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432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8AFFAD"/>
                </a:solidFill>
              </a:defRPr>
            </a:pPr>
            <a:r>
              <a:rPr sz="1275" b="1">
                <a:solidFill>
                  <a:srgbClr val="8AFFAD"/>
                </a:solidFill>
              </a:rPr>
              <a:t>4</a:t>
            </a:r>
          </a:p>
        </p:txBody>
      </p:sp>
      <p:sp>
        <p:nvSpPr>
          <p:cNvPr id="20" name="mechanism-label-4">
            <a:extLst xmlns:a="http://schemas.openxmlformats.org/drawingml/2006/main">
              <a:ext uri="{FF2B5EF4-FFF2-40B4-BE49-F238E27FC236}">
                <a16:creationId xmlns:a16="http://schemas.microsoft.com/office/drawing/2014/main" id="{BD279390-A88F-4806-8493-5084C30F7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146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4F1E8"/>
                </a:solidFill>
              </a:defRPr>
            </a:pPr>
            <a:r>
              <a:rPr sz="1425" b="1">
                <a:solidFill>
                  <a:srgbClr val="F4F1E8"/>
                </a:solidFill>
              </a:rPr>
              <a:t>SETTLE</a:t>
            </a:r>
          </a:p>
        </p:txBody>
      </p:sp>
      <p:sp>
        <p:nvSpPr>
          <p:cNvPr id="21" name="mechanism-body-4">
            <a:extLst xmlns:a="http://schemas.openxmlformats.org/drawingml/2006/main">
              <a:ext uri="{FF2B5EF4-FFF2-40B4-BE49-F238E27FC236}">
                <a16:creationId xmlns:a16="http://schemas.microsoft.com/office/drawing/2014/main" id="{398B9CD6-8DBD-427B-ADF5-6499252CB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514725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bounded markout</a:t>
            </a:r>
          </a:p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retention curve</a:t>
            </a:r>
          </a:p>
        </p:txBody>
      </p:sp>
      <p:sp>
        <p:nvSpPr>
          <p:cNvPr id="22" name="mechanism-node-5">
            <a:extLst xmlns:a="http://schemas.openxmlformats.org/drawingml/2006/main">
              <a:ext uri="{FF2B5EF4-FFF2-40B4-BE49-F238E27FC236}">
                <a16:creationId xmlns:a16="http://schemas.microsoft.com/office/drawing/2014/main" id="{20F4E424-93F1-40D8-A5A9-BC1AF735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571750"/>
            <a:ext cx="18669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61B"/>
          </a:solidFill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23" name="mechanism-index-5">
            <a:extLst xmlns:a="http://schemas.openxmlformats.org/drawingml/2006/main">
              <a:ext uri="{FF2B5EF4-FFF2-40B4-BE49-F238E27FC236}">
                <a16:creationId xmlns:a16="http://schemas.microsoft.com/office/drawing/2014/main" id="{91012C94-476D-48F0-BF09-6C29ACC1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7432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8AFFAD"/>
                </a:solidFill>
              </a:defRPr>
            </a:pPr>
            <a:r>
              <a:rPr sz="1275" b="1">
                <a:solidFill>
                  <a:srgbClr val="8AFFAD"/>
                </a:solidFill>
              </a:rPr>
              <a:t>5</a:t>
            </a:r>
          </a:p>
        </p:txBody>
      </p:sp>
      <p:sp>
        <p:nvSpPr>
          <p:cNvPr id="24" name="mechanism-label-5">
            <a:extLst xmlns:a="http://schemas.openxmlformats.org/drawingml/2006/main">
              <a:ext uri="{FF2B5EF4-FFF2-40B4-BE49-F238E27FC236}">
                <a16:creationId xmlns:a16="http://schemas.microsoft.com/office/drawing/2014/main" id="{47870143-190E-4603-8B0E-B2C701AD7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146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4F1E8"/>
                </a:solidFill>
              </a:defRPr>
            </a:pPr>
            <a:r>
              <a:rPr sz="1425" b="1">
                <a:solidFill>
                  <a:srgbClr val="F4F1E8"/>
                </a:solidFill>
              </a:rPr>
              <a:t>ALLOCATE</a:t>
            </a:r>
          </a:p>
        </p:txBody>
      </p:sp>
      <p:sp>
        <p:nvSpPr>
          <p:cNvPr id="25" name="mechanism-body-5">
            <a:extLst xmlns:a="http://schemas.openxmlformats.org/drawingml/2006/main">
              <a:ext uri="{FF2B5EF4-FFF2-40B4-BE49-F238E27FC236}">
                <a16:creationId xmlns:a16="http://schemas.microsoft.com/office/drawing/2014/main" id="{7E29B7A7-C830-4B99-B080-44C6DE097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514725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rebate + reserve</a:t>
            </a:r>
          </a:p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conserve escrow</a:t>
            </a:r>
          </a:p>
        </p:txBody>
      </p:sp>
      <p:cxnSp>
        <p:nvCxnSpPr>
          <p:cNvPr id="172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552700" y="334327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AFFAD"/>
            </a:solidFill>
            <a:prstDash val="solid"/>
            <a:tailEnd type="arrow" w="sm" len="sm"/>
          </a:ln>
        </p:spPr>
      </p:cxnSp>
      <p:cxnSp>
        <p:nvCxnSpPr>
          <p:cNvPr id="173" name="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4743450" y="334327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AFFAD"/>
            </a:solidFill>
            <a:prstDash val="solid"/>
            <a:tailEnd type="arrow" w="sm" len="sm"/>
          </a:ln>
        </p:spPr>
      </p:cxnSp>
      <p:cxnSp>
        <p:nvCxnSpPr>
          <p:cNvPr id="174" name="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6934200" y="334327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AFFAD"/>
            </a:solidFill>
            <a:prstDash val="solid"/>
            <a:tailEnd type="arrow" w="sm" len="sm"/>
          </a:ln>
        </p:spPr>
      </p:cxnSp>
      <p:cxnSp>
        <p:nvCxnSpPr>
          <p:cNvPr id="175" name=""/>
          <p:cNvCxnSpPr>
            <a:stCxn xmlns:a="http://schemas.openxmlformats.org/drawingml/2006/main" id="18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9124950" y="334327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AFFAD"/>
            </a:solidFill>
            <a:prstDash val="solid"/>
            <a:tailEnd type="arrow" w="sm" len="sm"/>
          </a:ln>
        </p:spPr>
      </p:cxnSp>
      <p:sp>
        <p:nvSpPr>
          <p:cNvPr id="30" name="slide-3-fail-open">
            <a:extLst xmlns:a="http://schemas.openxmlformats.org/drawingml/2006/main">
              <a:ext uri="{FF2B5EF4-FFF2-40B4-BE49-F238E27FC236}">
                <a16:creationId xmlns:a16="http://schemas.microsoft.com/office/drawing/2014/main" id="{0EE6C47D-563D-4972-9D0A-EEAC83EF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762500"/>
            <a:ext cx="704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8AFFAD"/>
                </a:solidFill>
              </a:defRPr>
            </a:pPr>
            <a:r>
              <a:rPr sz="1650" b="1">
                <a:solidFill>
                  <a:srgbClr val="8AFFAD"/>
                </a:solidFill>
              </a:rPr>
              <a:t>No valid observation by expiry → full provisional surcharge rebate</a:t>
            </a:r>
          </a:p>
        </p:txBody>
      </p:sp>
    </p:spTree>
    <p:extLst>
      <p:ext uri="{BB962C8B-B14F-4D97-AF65-F5344CB8AC3E}">
        <p14:creationId xmlns:p14="http://schemas.microsoft.com/office/powerpoint/2010/main" val="16730372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yebrow-4">
            <a:extLst xmlns:a="http://schemas.openxmlformats.org/drawingml/2006/main">
              <a:ext uri="{FF2B5EF4-FFF2-40B4-BE49-F238E27FC236}">
                <a16:creationId xmlns:a16="http://schemas.microsoft.com/office/drawing/2014/main" id="{E6516E21-DD29-4DD4-A95C-BABF90562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DISCRIMINATION</a:t>
            </a:r>
          </a:p>
        </p:txBody>
      </p:sp>
      <p:sp>
        <p:nvSpPr>
          <p:cNvPr id="2" name="footer-4">
            <a:extLst xmlns:a="http://schemas.openxmlformats.org/drawingml/2006/main">
              <a:ext uri="{FF2B5EF4-FFF2-40B4-BE49-F238E27FC236}">
                <a16:creationId xmlns:a16="http://schemas.microsoft.com/office/drawing/2014/main" id="{3D9ABBA8-CDCB-469A-926D-F353A73C5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4 / 9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15D8B499-DEBF-4194-9589-8812EF6D7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268951C2-8534-4E80-A367-EDD4B9F8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MARKOUT charges information—not the whole market.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536b811ede4991"/>
          <a:stretch xmlns:a="http://schemas.openxmlformats.org/drawingml/2006/main"/>
        </p:blipFill>
        <p:spPr>
          <a:xfrm xmlns:a="http://schemas.openxmlformats.org/drawingml/2006/main">
            <a:off x="2611694" y="1857375"/>
            <a:ext cx="6968613" cy="4000500"/>
          </a:xfrm>
          <a:prstGeom xmlns:a="http://schemas.openxmlformats.org/drawingml/2006/main" prst="rect">
            <a:avLst/>
          </a:prstGeom>
        </p:spPr>
      </p:pic>
      <p:sp>
        <p:nvSpPr>
          <p:cNvPr id="6" name="slide-4-callout">
            <a:extLst xmlns:a="http://schemas.openxmlformats.org/drawingml/2006/main">
              <a:ext uri="{FF2B5EF4-FFF2-40B4-BE49-F238E27FC236}">
                <a16:creationId xmlns:a16="http://schemas.microsoft.com/office/drawing/2014/main" id="{44EB9238-ABB2-4578-BDF1-BF1DF77DD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8AFFAD"/>
                </a:solidFill>
              </a:defRPr>
            </a:pPr>
            <a:r>
              <a:rPr sz="1575" b="1">
                <a:solidFill>
                  <a:srgbClr val="8AFFAD"/>
                </a:solidFill>
              </a:rPr>
              <a:t>73.06 bps informed · 39.43 bps benign · 30.00 bps inventory-improving</a:t>
            </a:r>
          </a:p>
        </p:txBody>
      </p:sp>
    </p:spTree>
    <p:extLst>
      <p:ext uri="{BB962C8B-B14F-4D97-AF65-F5344CB8AC3E}">
        <p14:creationId xmlns:p14="http://schemas.microsoft.com/office/powerpoint/2010/main" val="112923593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eyebrow-5">
            <a:extLst xmlns:a="http://schemas.openxmlformats.org/drawingml/2006/main">
              <a:ext uri="{FF2B5EF4-FFF2-40B4-BE49-F238E27FC236}">
                <a16:creationId xmlns:a16="http://schemas.microsoft.com/office/drawing/2014/main" id="{7EFEA686-BF40-4936-8234-C6ECEF18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EVIDENCE</a:t>
            </a:r>
          </a:p>
        </p:txBody>
      </p:sp>
      <p:sp>
        <p:nvSpPr>
          <p:cNvPr id="2" name="footer-5">
            <a:extLst xmlns:a="http://schemas.openxmlformats.org/drawingml/2006/main">
              <a:ext uri="{FF2B5EF4-FFF2-40B4-BE49-F238E27FC236}">
                <a16:creationId xmlns:a16="http://schemas.microsoft.com/office/drawing/2014/main" id="{C0297821-4CC5-4BBF-8E42-A0C6DA50F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5 / 9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1C9A307D-3F41-4016-B39F-AE45BA1C9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66F2F603-5E0D-40EB-BDAC-2AAEA0B90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The experiment supports a tradeoff, not a miracle.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1ae37d29fe49f1"/>
          <a:stretch xmlns:a="http://schemas.openxmlformats.org/drawingml/2006/main"/>
        </p:blipFill>
        <p:spPr>
          <a:xfrm xmlns:a="http://schemas.openxmlformats.org/drawingml/2006/main">
            <a:off x="637560" y="1333500"/>
            <a:ext cx="7964129" cy="4572000"/>
          </a:xfrm>
          <a:prstGeom xmlns:a="http://schemas.openxmlformats.org/drawingml/2006/main" prst="rect">
            <a:avLst/>
          </a:prstGeom>
        </p:spPr>
      </p:pic>
      <p:sp>
        <p:nvSpPr>
          <p:cNvPr id="6" name="vs-fixed-value">
            <a:extLst xmlns:a="http://schemas.openxmlformats.org/drawingml/2006/main">
              <a:ext uri="{FF2B5EF4-FFF2-40B4-BE49-F238E27FC236}">
                <a16:creationId xmlns:a16="http://schemas.microsoft.com/office/drawing/2014/main" id="{8B0FB59A-4EC2-49D2-AFB2-B44A8E61C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00250"/>
            <a:ext cx="276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8AFFAD"/>
                </a:solidFill>
              </a:defRPr>
            </a:pPr>
            <a:r>
              <a:rPr sz="3150" b="1">
                <a:solidFill>
                  <a:srgbClr val="8AFFAD"/>
                </a:solidFill>
              </a:rPr>
              <a:t>+$3,249.79</a:t>
            </a:r>
          </a:p>
        </p:txBody>
      </p:sp>
      <p:sp>
        <p:nvSpPr>
          <p:cNvPr id="7" name="vs-fixed-label">
            <a:extLst xmlns:a="http://schemas.openxmlformats.org/drawingml/2006/main">
              <a:ext uri="{FF2B5EF4-FFF2-40B4-BE49-F238E27FC236}">
                <a16:creationId xmlns:a16="http://schemas.microsoft.com/office/drawing/2014/main" id="{C26B03CB-AAA7-491A-8DF4-E00119479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86050"/>
            <a:ext cx="2762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LP net after proxy</a:t>
            </a:r>
          </a:p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versus fixed fee</a:t>
            </a:r>
          </a:p>
        </p:txBody>
      </p:sp>
      <p:sp>
        <p:nvSpPr>
          <p:cNvPr id="8" name="vs-volatility-value">
            <a:extLst xmlns:a="http://schemas.openxmlformats.org/drawingml/2006/main">
              <a:ext uri="{FF2B5EF4-FFF2-40B4-BE49-F238E27FC236}">
                <a16:creationId xmlns:a16="http://schemas.microsoft.com/office/drawing/2014/main" id="{F751CEB4-8459-4680-A19C-235E5929D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857625"/>
            <a:ext cx="276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F59E0B"/>
                </a:solidFill>
              </a:defRPr>
            </a:pPr>
            <a:r>
              <a:rPr sz="3150" b="1">
                <a:solidFill>
                  <a:srgbClr val="F59E0B"/>
                </a:solidFill>
              </a:rPr>
              <a:t>−$454.75</a:t>
            </a:r>
          </a:p>
        </p:txBody>
      </p:sp>
      <p:sp>
        <p:nvSpPr>
          <p:cNvPr id="9" name="vs-volatility-label">
            <a:extLst xmlns:a="http://schemas.openxmlformats.org/drawingml/2006/main">
              <a:ext uri="{FF2B5EF4-FFF2-40B4-BE49-F238E27FC236}">
                <a16:creationId xmlns:a16="http://schemas.microsoft.com/office/drawing/2014/main" id="{CF63E797-B814-424B-A9D6-D42D564D6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43425"/>
            <a:ext cx="2762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versus volatility fee;</a:t>
            </a:r>
          </a:p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good flow pays less</a:t>
            </a:r>
          </a:p>
        </p:txBody>
      </p:sp>
    </p:spTree>
    <p:extLst>
      <p:ext uri="{BB962C8B-B14F-4D97-AF65-F5344CB8AC3E}">
        <p14:creationId xmlns:p14="http://schemas.microsoft.com/office/powerpoint/2010/main" val="901689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eyebrow-6">
            <a:extLst xmlns:a="http://schemas.openxmlformats.org/drawingml/2006/main">
              <a:ext uri="{FF2B5EF4-FFF2-40B4-BE49-F238E27FC236}">
                <a16:creationId xmlns:a16="http://schemas.microsoft.com/office/drawing/2014/main" id="{2FC4CBFF-C793-4766-84F3-2C35D395E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ACCOUNTING</a:t>
            </a:r>
          </a:p>
        </p:txBody>
      </p:sp>
      <p:sp>
        <p:nvSpPr>
          <p:cNvPr id="2" name="footer-6">
            <a:extLst xmlns:a="http://schemas.openxmlformats.org/drawingml/2006/main">
              <a:ext uri="{FF2B5EF4-FFF2-40B4-BE49-F238E27FC236}">
                <a16:creationId xmlns:a16="http://schemas.microsoft.com/office/drawing/2014/main" id="{17E43B93-2076-4F8D-A76A-136821E37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6 / 9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447B9848-523D-4977-9B76-A7EEACFD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E98815ED-C47D-49D3-8363-0E9691488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Every provisional dollar ends in a named bucket.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df948bc6b44870"/>
          <a:stretch xmlns:a="http://schemas.openxmlformats.org/drawingml/2006/main"/>
        </p:blipFill>
        <p:spPr>
          <a:xfrm xmlns:a="http://schemas.openxmlformats.org/drawingml/2006/main">
            <a:off x="523875" y="1391267"/>
            <a:ext cx="7762875" cy="4456465"/>
          </a:xfrm>
          <a:prstGeom xmlns:a="http://schemas.openxmlformats.org/drawingml/2006/main" prst="rect">
            <a:avLst/>
          </a:prstGeom>
        </p:spPr>
      </p:pic>
      <p:sp>
        <p:nvSpPr>
          <p:cNvPr id="6" name="rebates-value">
            <a:extLst xmlns:a="http://schemas.openxmlformats.org/drawingml/2006/main">
              <a:ext uri="{FF2B5EF4-FFF2-40B4-BE49-F238E27FC236}">
                <a16:creationId xmlns:a16="http://schemas.microsoft.com/office/drawing/2014/main" id="{0E71CF41-D346-4800-BB32-A8CB4F368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762125"/>
            <a:ext cx="266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41D47A"/>
                </a:solidFill>
              </a:defRPr>
            </a:pPr>
            <a:r>
              <a:rPr sz="3600" b="1">
                <a:solidFill>
                  <a:srgbClr val="41D47A"/>
                </a:solidFill>
              </a:rPr>
              <a:t>$6,746.61</a:t>
            </a:r>
          </a:p>
        </p:txBody>
      </p:sp>
      <p:sp>
        <p:nvSpPr>
          <p:cNvPr id="7" name="rebates-label">
            <a:extLst xmlns:a="http://schemas.openxmlformats.org/drawingml/2006/main">
              <a:ext uri="{FF2B5EF4-FFF2-40B4-BE49-F238E27FC236}">
                <a16:creationId xmlns:a16="http://schemas.microsoft.com/office/drawing/2014/main" id="{D8E068AF-1406-46A6-942F-831234E01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447925"/>
            <a:ext cx="266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returned to traders</a:t>
            </a:r>
          </a:p>
        </p:txBody>
      </p:sp>
      <p:sp>
        <p:nvSpPr>
          <p:cNvPr id="8" name="reserve-value">
            <a:extLst xmlns:a="http://schemas.openxmlformats.org/drawingml/2006/main">
              <a:ext uri="{FF2B5EF4-FFF2-40B4-BE49-F238E27FC236}">
                <a16:creationId xmlns:a16="http://schemas.microsoft.com/office/drawing/2014/main" id="{B597259C-D089-49BF-94E7-9AFC7D032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286125"/>
            <a:ext cx="266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EC4899"/>
                </a:solidFill>
              </a:defRPr>
            </a:pPr>
            <a:r>
              <a:rPr sz="3600" b="1">
                <a:solidFill>
                  <a:srgbClr val="EC4899"/>
                </a:solidFill>
              </a:rPr>
              <a:t>$3,249.79</a:t>
            </a:r>
          </a:p>
        </p:txBody>
      </p:sp>
      <p:sp>
        <p:nvSpPr>
          <p:cNvPr id="9" name="reserve-label">
            <a:extLst xmlns:a="http://schemas.openxmlformats.org/drawingml/2006/main">
              <a:ext uri="{FF2B5EF4-FFF2-40B4-BE49-F238E27FC236}">
                <a16:creationId xmlns:a16="http://schemas.microsoft.com/office/drawing/2014/main" id="{389F57A8-9A03-452F-9ABE-6AA8EA5BB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971925"/>
            <a:ext cx="266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credited to LP protection</a:t>
            </a:r>
          </a:p>
        </p:txBody>
      </p:sp>
      <p:sp>
        <p:nvSpPr>
          <p:cNvPr id="10" name="expiry-value">
            <a:extLst xmlns:a="http://schemas.openxmlformats.org/drawingml/2006/main">
              <a:ext uri="{FF2B5EF4-FFF2-40B4-BE49-F238E27FC236}">
                <a16:creationId xmlns:a16="http://schemas.microsoft.com/office/drawing/2014/main" id="{7D57EE9A-5777-4C7C-9078-B28403C67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810125"/>
            <a:ext cx="266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4F1E8"/>
                </a:solidFill>
              </a:defRPr>
            </a:pPr>
            <a:r>
              <a:rPr sz="3600" b="1">
                <a:solidFill>
                  <a:srgbClr val="F4F1E8"/>
                </a:solidFill>
              </a:rPr>
              <a:t>63</a:t>
            </a:r>
          </a:p>
        </p:txBody>
      </p:sp>
      <p:sp>
        <p:nvSpPr>
          <p:cNvPr id="11" name="expiry-label">
            <a:extLst xmlns:a="http://schemas.openxmlformats.org/drawingml/2006/main">
              <a:ext uri="{FF2B5EF4-FFF2-40B4-BE49-F238E27FC236}">
                <a16:creationId xmlns:a16="http://schemas.microsoft.com/office/drawing/2014/main" id="{655BDB60-E232-45D8-B9D6-D306AA6B8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5495925"/>
            <a:ext cx="266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invalid references expire</a:t>
            </a:r>
          </a:p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with full surcharge rebate</a:t>
            </a:r>
          </a:p>
        </p:txBody>
      </p:sp>
    </p:spTree>
    <p:extLst>
      <p:ext uri="{BB962C8B-B14F-4D97-AF65-F5344CB8AC3E}">
        <p14:creationId xmlns:p14="http://schemas.microsoft.com/office/powerpoint/2010/main" val="6064565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eyebrow-7">
            <a:extLst xmlns:a="http://schemas.openxmlformats.org/drawingml/2006/main">
              <a:ext uri="{FF2B5EF4-FFF2-40B4-BE49-F238E27FC236}">
                <a16:creationId xmlns:a16="http://schemas.microsoft.com/office/drawing/2014/main" id="{66F7C44A-B107-4670-ACC1-A73A9D48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AUTONOMY</a:t>
            </a:r>
          </a:p>
        </p:txBody>
      </p:sp>
      <p:sp>
        <p:nvSpPr>
          <p:cNvPr id="2" name="footer-7">
            <a:extLst xmlns:a="http://schemas.openxmlformats.org/drawingml/2006/main">
              <a:ext uri="{FF2B5EF4-FFF2-40B4-BE49-F238E27FC236}">
                <a16:creationId xmlns:a16="http://schemas.microsoft.com/office/drawing/2014/main" id="{D48938B5-E411-40A8-BDDD-59F43C518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7 / 9</a:t>
            </a:r>
          </a:p>
        </p:txBody>
      </p:sp>
      <p:sp>
        <p:nvSpPr>
          <p:cNvPr id="3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A073FB9C-9C88-49A1-B820-37F2D4BAD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6720FEC3-B62C-4725-8E0F-960DB655D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Two transport paths; one immutable settlement boundary.</a:t>
            </a:r>
          </a:p>
        </p:txBody>
      </p:sp>
      <p:sp>
        <p:nvSpPr>
          <p:cNvPr id="5" name="slide-7-subtitle">
            <a:extLst xmlns:a="http://schemas.openxmlformats.org/drawingml/2006/main">
              <a:ext uri="{FF2B5EF4-FFF2-40B4-BE49-F238E27FC236}">
                <a16:creationId xmlns:a16="http://schemas.microsoft.com/office/drawing/2014/main" id="{6B6D307D-88FF-4FFD-AA08-3B5C7F6F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CA9B5"/>
                </a:solidFill>
              </a:defRPr>
            </a:pPr>
            <a:r>
              <a:rPr sz="1575">
                <a:solidFill>
                  <a:srgbClr val="9CA9B5"/>
                </a:solidFill>
              </a:rPr>
              <a:t>Circle is primary. Reactive is optional. The hook alone owns custody and final accounting.</a:t>
            </a:r>
          </a:p>
        </p:txBody>
      </p:sp>
      <p:sp>
        <p:nvSpPr>
          <p:cNvPr id="6" name="origin-boundary">
            <a:extLst xmlns:a="http://schemas.openxmlformats.org/drawingml/2006/main">
              <a:ext uri="{FF2B5EF4-FFF2-40B4-BE49-F238E27FC236}">
                <a16:creationId xmlns:a16="http://schemas.microsoft.com/office/drawing/2014/main" id="{2EA9B362-B6B5-4F74-A6F7-D3E749829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3625"/>
            <a:ext cx="3143250" cy="2333625"/>
          </a:xfrm>
          <a:prstGeom xmlns:a="http://schemas.openxmlformats.org/drawingml/2006/main" prst="roundRect">
            <a:avLst>
              <a:gd name="adj" fmla="val 7347"/>
            </a:avLst>
          </a:prstGeom>
          <a:solidFill xmlns:a="http://schemas.openxmlformats.org/drawingml/2006/main">
            <a:srgbClr val="10161B"/>
          </a:solidFill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7" name="reactive-boundary">
            <a:extLst xmlns:a="http://schemas.openxmlformats.org/drawingml/2006/main">
              <a:ext uri="{FF2B5EF4-FFF2-40B4-BE49-F238E27FC236}">
                <a16:creationId xmlns:a16="http://schemas.microsoft.com/office/drawing/2014/main" id="{9E437601-B3DB-4D0D-A833-F6A42D56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33625"/>
            <a:ext cx="3143250" cy="2333625"/>
          </a:xfrm>
          <a:prstGeom xmlns:a="http://schemas.openxmlformats.org/drawingml/2006/main" prst="roundRect">
            <a:avLst>
              <a:gd name="adj" fmla="val 7347"/>
            </a:avLst>
          </a:prstGeom>
          <a:solidFill xmlns:a="http://schemas.openxmlformats.org/drawingml/2006/main">
            <a:srgbClr val="131C23"/>
          </a:solidFill>
          <a:ln xmlns:a="http://schemas.openxmlformats.org/drawingml/2006/main" w="19050">
            <a:solidFill>
              <a:srgbClr val="8AFFAD"/>
            </a:solidFill>
            <a:prstDash val="solid"/>
          </a:ln>
        </p:spPr>
      </p:sp>
      <p:sp>
        <p:nvSpPr>
          <p:cNvPr id="8" name="destination-boundary">
            <a:extLst xmlns:a="http://schemas.openxmlformats.org/drawingml/2006/main">
              <a:ext uri="{FF2B5EF4-FFF2-40B4-BE49-F238E27FC236}">
                <a16:creationId xmlns:a16="http://schemas.microsoft.com/office/drawing/2014/main" id="{300620D3-79A0-41DF-AC61-91627959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33625"/>
            <a:ext cx="3143250" cy="2333625"/>
          </a:xfrm>
          <a:prstGeom xmlns:a="http://schemas.openxmlformats.org/drawingml/2006/main" prst="roundRect">
            <a:avLst>
              <a:gd name="adj" fmla="val 7347"/>
            </a:avLst>
          </a:prstGeom>
          <a:solidFill xmlns:a="http://schemas.openxmlformats.org/drawingml/2006/main">
            <a:srgbClr val="10161B"/>
          </a:solidFill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cxnSp>
        <p:nvCxnSpPr>
          <p:cNvPr id="66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019550" y="3500438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AFFAD"/>
            </a:solidFill>
            <a:prstDash val="solid"/>
            <a:tailEnd type="arrow" w="sm" len="sm"/>
          </a:ln>
        </p:spPr>
      </p:cxnSp>
      <p:cxnSp>
        <p:nvCxnSpPr>
          <p:cNvPr id="67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667625" y="3500438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AFFAD"/>
            </a:solidFill>
            <a:prstDash val="solid"/>
            <a:tailEnd type="arrow" w="sm" len="sm"/>
          </a:ln>
        </p:spPr>
      </p:cxnSp>
      <p:sp>
        <p:nvSpPr>
          <p:cNvPr id="11" name="origin-title">
            <a:extLst xmlns:a="http://schemas.openxmlformats.org/drawingml/2006/main">
              <a:ext uri="{FF2B5EF4-FFF2-40B4-BE49-F238E27FC236}">
                <a16:creationId xmlns:a16="http://schemas.microsoft.com/office/drawing/2014/main" id="{5706F5C7-8574-4918-BE0A-FF696914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6098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4F1E8"/>
                </a:solidFill>
              </a:defRPr>
            </a:pPr>
            <a:r>
              <a:rPr sz="1725" b="1">
                <a:solidFill>
                  <a:srgbClr val="F4F1E8"/>
                </a:solidFill>
              </a:rPr>
              <a:t>UNISWAP v4</a:t>
            </a:r>
          </a:p>
        </p:txBody>
      </p:sp>
      <p:sp>
        <p:nvSpPr>
          <p:cNvPr id="12" name="origin-body">
            <a:extLst xmlns:a="http://schemas.openxmlformats.org/drawingml/2006/main">
              <a:ext uri="{FF2B5EF4-FFF2-40B4-BE49-F238E27FC236}">
                <a16:creationId xmlns:a16="http://schemas.microsoft.com/office/drawing/2014/main" id="{5F1D3AA2-2D39-4254-AC23-B56D58B0B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143250"/>
            <a:ext cx="2571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Escrow surcharge</a:t>
            </a:r>
          </a:p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Create pending trade</a:t>
            </a:r>
          </a:p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Emit MarkoutRequested</a:t>
            </a:r>
          </a:p>
        </p:txBody>
      </p:sp>
      <p:sp>
        <p:nvSpPr>
          <p:cNvPr id="13" name="reactive-title">
            <a:extLst xmlns:a="http://schemas.openxmlformats.org/drawingml/2006/main">
              <a:ext uri="{FF2B5EF4-FFF2-40B4-BE49-F238E27FC236}">
                <a16:creationId xmlns:a16="http://schemas.microsoft.com/office/drawing/2014/main" id="{456F835E-1873-4FF0-8156-A86642F6A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6098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8AFFAD"/>
                </a:solidFill>
              </a:defRPr>
            </a:pPr>
            <a:r>
              <a:rPr sz="1725" b="1">
                <a:solidFill>
                  <a:srgbClr val="8AFFAD"/>
                </a:solidFill>
              </a:rPr>
              <a:t>TRANSPORTS</a:t>
            </a:r>
          </a:p>
        </p:txBody>
      </p:sp>
      <p:sp>
        <p:nvSpPr>
          <p:cNvPr id="14" name="reactive-body">
            <a:extLst xmlns:a="http://schemas.openxmlformats.org/drawingml/2006/main">
              <a:ext uri="{FF2B5EF4-FFF2-40B4-BE49-F238E27FC236}">
                <a16:creationId xmlns:a16="http://schemas.microsoft.com/office/drawing/2014/main" id="{1652FCC6-DEBF-4441-971E-16D572B1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143250"/>
            <a:ext cx="2571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Pyth verifies price</a:t>
            </a:r>
          </a:p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Circle carries primary</a:t>
            </a:r>
          </a:p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Reactive mirrors event</a:t>
            </a:r>
          </a:p>
        </p:txBody>
      </p:sp>
      <p:sp>
        <p:nvSpPr>
          <p:cNvPr id="15" name="destination-title">
            <a:extLst xmlns:a="http://schemas.openxmlformats.org/drawingml/2006/main">
              <a:ext uri="{FF2B5EF4-FFF2-40B4-BE49-F238E27FC236}">
                <a16:creationId xmlns:a16="http://schemas.microsoft.com/office/drawing/2014/main" id="{F44B3302-7732-4FCB-B819-DE0DF4FB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6098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4F1E8"/>
                </a:solidFill>
              </a:defRPr>
            </a:pPr>
            <a:r>
              <a:rPr sz="1725" b="1">
                <a:solidFill>
                  <a:srgbClr val="F4F1E8"/>
                </a:solidFill>
              </a:rPr>
              <a:t>COORDINATOR</a:t>
            </a:r>
          </a:p>
        </p:txBody>
      </p:sp>
      <p:sp>
        <p:nvSpPr>
          <p:cNvPr id="16" name="destination-body">
            <a:extLst xmlns:a="http://schemas.openxmlformats.org/drawingml/2006/main">
              <a:ext uri="{FF2B5EF4-FFF2-40B4-BE49-F238E27FC236}">
                <a16:creationId xmlns:a16="http://schemas.microsoft.com/office/drawing/2014/main" id="{6F62BBAC-07BB-4222-A711-58EC89A81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143250"/>
            <a:ext cx="2571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Authenticate sources</a:t>
            </a:r>
          </a:p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First valid delivery wins</a:t>
            </a:r>
          </a:p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Hook settles or expires</a:t>
            </a:r>
          </a:p>
        </p:txBody>
      </p:sp>
      <p:sp>
        <p:nvSpPr>
          <p:cNvPr id="17" name="slide-7-close">
            <a:extLst xmlns:a="http://schemas.openxmlformats.org/drawingml/2006/main">
              <a:ext uri="{FF2B5EF4-FFF2-40B4-BE49-F238E27FC236}">
                <a16:creationId xmlns:a16="http://schemas.microsoft.com/office/drawing/2014/main" id="{8249B4A1-360A-46EA-9535-28E7527C9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191125"/>
            <a:ext cx="742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8AFFAD"/>
                </a:solidFill>
              </a:defRPr>
            </a:pPr>
            <a:r>
              <a:rPr sz="2100" b="1">
                <a:solidFill>
                  <a:srgbClr val="8AFFAD"/>
                </a:solidFill>
              </a:rPr>
              <a:t>At-least-once delivery. Exactly-once economics.</a:t>
            </a:r>
          </a:p>
        </p:txBody>
      </p:sp>
    </p:spTree>
    <p:extLst>
      <p:ext uri="{BB962C8B-B14F-4D97-AF65-F5344CB8AC3E}">
        <p14:creationId xmlns:p14="http://schemas.microsoft.com/office/powerpoint/2010/main" val="19018013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eyebrow-8">
            <a:extLst xmlns:a="http://schemas.openxmlformats.org/drawingml/2006/main">
              <a:ext uri="{FF2B5EF4-FFF2-40B4-BE49-F238E27FC236}">
                <a16:creationId xmlns:a16="http://schemas.microsoft.com/office/drawing/2014/main" id="{6CB0B761-5A05-492F-AFC5-06A43F2FD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PROOF</a:t>
            </a:r>
          </a:p>
        </p:txBody>
      </p:sp>
      <p:sp>
        <p:nvSpPr>
          <p:cNvPr id="2" name="footer-8">
            <a:extLst xmlns:a="http://schemas.openxmlformats.org/drawingml/2006/main">
              <a:ext uri="{FF2B5EF4-FFF2-40B4-BE49-F238E27FC236}">
                <a16:creationId xmlns:a16="http://schemas.microsoft.com/office/drawing/2014/main" id="{52110BE6-3D4C-4A78-AF70-790F89B2E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8 / 9</a:t>
            </a:r>
          </a:p>
        </p:txBody>
      </p:sp>
      <p:sp>
        <p:nvSpPr>
          <p:cNvPr id="3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9E3781E1-09DD-44F6-9FFB-E3E167901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C1DA3A37-CA35-47C1-98E8-27D466E97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The prototype is hardened where it matters most.</a:t>
            </a:r>
          </a:p>
        </p:txBody>
      </p:sp>
      <p:sp>
        <p:nvSpPr>
          <p:cNvPr id="5" name="metric-line">
            <a:extLst xmlns:a="http://schemas.openxmlformats.org/drawingml/2006/main">
              <a:ext uri="{FF2B5EF4-FFF2-40B4-BE49-F238E27FC236}">
                <a16:creationId xmlns:a16="http://schemas.microsoft.com/office/drawing/2014/main" id="{22A93793-8A69-4C43-9177-C6B823FDA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76625"/>
            <a:ext cx="10629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414B"/>
            </a:solidFill>
            <a:prstDash val="solid"/>
          </a:ln>
        </p:spPr>
      </p:sp>
      <p:sp>
        <p:nvSpPr>
          <p:cNvPr id="6" name="proof-value-1">
            <a:extLst xmlns:a="http://schemas.openxmlformats.org/drawingml/2006/main">
              <a:ext uri="{FF2B5EF4-FFF2-40B4-BE49-F238E27FC236}">
                <a16:creationId xmlns:a16="http://schemas.microsoft.com/office/drawing/2014/main" id="{7AD3A3A9-62C3-4DCA-B828-6F4D9B1EC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38375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800" b="1">
                <a:solidFill>
                  <a:srgbClr val="F4F1E8"/>
                </a:solidFill>
              </a:defRPr>
            </a:pPr>
            <a:r>
              <a:rPr sz="4800" b="1">
                <a:solidFill>
                  <a:srgbClr val="F4F1E8"/>
                </a:solidFill>
              </a:rPr>
              <a:t>212</a:t>
            </a:r>
          </a:p>
        </p:txBody>
      </p:sp>
      <p:sp>
        <p:nvSpPr>
          <p:cNvPr id="7" name="proof-label-1">
            <a:extLst xmlns:a="http://schemas.openxmlformats.org/drawingml/2006/main">
              <a:ext uri="{FF2B5EF4-FFF2-40B4-BE49-F238E27FC236}">
                <a16:creationId xmlns:a16="http://schemas.microsoft.com/office/drawing/2014/main" id="{1B656049-F534-4437-BFEA-0FB22AA49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62375"/>
            <a:ext cx="219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deterministic</a:t>
            </a:r>
          </a:p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Solidity tests</a:t>
            </a:r>
          </a:p>
        </p:txBody>
      </p:sp>
      <p:sp>
        <p:nvSpPr>
          <p:cNvPr id="8" name="proof-value-2">
            <a:extLst xmlns:a="http://schemas.openxmlformats.org/drawingml/2006/main">
              <a:ext uri="{FF2B5EF4-FFF2-40B4-BE49-F238E27FC236}">
                <a16:creationId xmlns:a16="http://schemas.microsoft.com/office/drawing/2014/main" id="{D467C700-9EEC-40CD-8BF6-E9CD22A36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238375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800" b="1">
                <a:solidFill>
                  <a:srgbClr val="F4F1E8"/>
                </a:solidFill>
              </a:defRPr>
            </a:pPr>
            <a:r>
              <a:rPr sz="4800" b="1">
                <a:solidFill>
                  <a:srgbClr val="F4F1E8"/>
                </a:solidFill>
              </a:rPr>
              <a:t>12</a:t>
            </a:r>
          </a:p>
        </p:txBody>
      </p:sp>
      <p:sp>
        <p:nvSpPr>
          <p:cNvPr id="9" name="proof-label-2">
            <a:extLst xmlns:a="http://schemas.openxmlformats.org/drawingml/2006/main">
              <a:ext uri="{FF2B5EF4-FFF2-40B4-BE49-F238E27FC236}">
                <a16:creationId xmlns:a16="http://schemas.microsoft.com/office/drawing/2014/main" id="{1690EE59-4AE9-4809-A2BD-69EBE8322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62375"/>
            <a:ext cx="219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stateful</a:t>
            </a:r>
          </a:p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invariants</a:t>
            </a:r>
          </a:p>
        </p:txBody>
      </p:sp>
      <p:sp>
        <p:nvSpPr>
          <p:cNvPr id="10" name="proof-value-3">
            <a:extLst xmlns:a="http://schemas.openxmlformats.org/drawingml/2006/main">
              <a:ext uri="{FF2B5EF4-FFF2-40B4-BE49-F238E27FC236}">
                <a16:creationId xmlns:a16="http://schemas.microsoft.com/office/drawing/2014/main" id="{E545DA8D-C554-4D6D-BD60-528C7BE0A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38375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800" b="1">
                <a:solidFill>
                  <a:srgbClr val="8AFFAD"/>
                </a:solidFill>
              </a:defRPr>
            </a:pPr>
            <a:r>
              <a:rPr sz="4800" b="1">
                <a:solidFill>
                  <a:srgbClr val="8AFFAD"/>
                </a:solidFill>
              </a:rPr>
              <a:t>0</a:t>
            </a:r>
          </a:p>
        </p:txBody>
      </p:sp>
      <p:sp>
        <p:nvSpPr>
          <p:cNvPr id="11" name="proof-label-3">
            <a:extLst xmlns:a="http://schemas.openxmlformats.org/drawingml/2006/main">
              <a:ext uri="{FF2B5EF4-FFF2-40B4-BE49-F238E27FC236}">
                <a16:creationId xmlns:a16="http://schemas.microsoft.com/office/drawing/2014/main" id="{8F388CD6-92E9-46DB-B3ED-BA4C9692D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62375"/>
            <a:ext cx="219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medium / high</a:t>
            </a:r>
          </a:p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Slither findings</a:t>
            </a:r>
          </a:p>
        </p:txBody>
      </p:sp>
      <p:sp>
        <p:nvSpPr>
          <p:cNvPr id="12" name="proof-value-4">
            <a:extLst xmlns:a="http://schemas.openxmlformats.org/drawingml/2006/main">
              <a:ext uri="{FF2B5EF4-FFF2-40B4-BE49-F238E27FC236}">
                <a16:creationId xmlns:a16="http://schemas.microsoft.com/office/drawing/2014/main" id="{B22CF356-12D9-4DE8-930A-1881E848A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238375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800" b="1">
                <a:solidFill>
                  <a:srgbClr val="F4F1E8"/>
                </a:solidFill>
              </a:defRPr>
            </a:pPr>
            <a:r>
              <a:rPr sz="4800" b="1">
                <a:solidFill>
                  <a:srgbClr val="F4F1E8"/>
                </a:solidFill>
              </a:rPr>
              <a:t>768</a:t>
            </a:r>
          </a:p>
        </p:txBody>
      </p:sp>
      <p:sp>
        <p:nvSpPr>
          <p:cNvPr id="13" name="proof-label-4">
            <a:extLst xmlns:a="http://schemas.openxmlformats.org/drawingml/2006/main">
              <a:ext uri="{FF2B5EF4-FFF2-40B4-BE49-F238E27FC236}">
                <a16:creationId xmlns:a16="http://schemas.microsoft.com/office/drawing/2014/main" id="{CAEBCBB7-F681-4C17-A5D5-BCAB1EA1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762375"/>
            <a:ext cx="219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trades on one</a:t>
            </a:r>
          </a:p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seeded tape</a:t>
            </a:r>
          </a:p>
        </p:txBody>
      </p:sp>
      <p:sp>
        <p:nvSpPr>
          <p:cNvPr id="14" name="slide-8-boundary">
            <a:extLst xmlns:a="http://schemas.openxmlformats.org/drawingml/2006/main">
              <a:ext uri="{FF2B5EF4-FFF2-40B4-BE49-F238E27FC236}">
                <a16:creationId xmlns:a16="http://schemas.microsoft.com/office/drawing/2014/main" id="{78EDD1E7-7374-49E5-B084-62FBE8A86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86375"/>
            <a:ext cx="895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8AFFAD"/>
                </a:solidFill>
              </a:defRPr>
            </a:pPr>
            <a:r>
              <a:rPr sz="1575" b="1">
                <a:solidFill>
                  <a:srgbClr val="8AFFAD"/>
                </a:solidFill>
              </a:rPr>
              <a:t>Security review ≠ independent audit · synthetic evidence ≠ forecast</a:t>
            </a:r>
          </a:p>
        </p:txBody>
      </p:sp>
    </p:spTree>
    <p:extLst>
      <p:ext uri="{BB962C8B-B14F-4D97-AF65-F5344CB8AC3E}">
        <p14:creationId xmlns:p14="http://schemas.microsoft.com/office/powerpoint/2010/main" val="130864799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eyebrow-9">
            <a:extLst xmlns:a="http://schemas.openxmlformats.org/drawingml/2006/main">
              <a:ext uri="{FF2B5EF4-FFF2-40B4-BE49-F238E27FC236}">
                <a16:creationId xmlns:a16="http://schemas.microsoft.com/office/drawing/2014/main" id="{975D24E6-D13A-4CDC-8621-D4FB7CAB5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CLOSE</a:t>
            </a:r>
          </a:p>
        </p:txBody>
      </p:sp>
      <p:sp>
        <p:nvSpPr>
          <p:cNvPr id="2" name="footer-9">
            <a:extLst xmlns:a="http://schemas.openxmlformats.org/drawingml/2006/main">
              <a:ext uri="{FF2B5EF4-FFF2-40B4-BE49-F238E27FC236}">
                <a16:creationId xmlns:a16="http://schemas.microsoft.com/office/drawing/2014/main" id="{23B1C602-F705-4D29-BFA3-2A87814BD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9 / 9</a:t>
            </a:r>
          </a:p>
        </p:txBody>
      </p:sp>
      <p:sp>
        <p:nvSpPr>
          <p:cNvPr id="3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56CB6FB0-DF72-4C8E-9518-33F9E2DB3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9-kicker">
            <a:extLst xmlns:a="http://schemas.openxmlformats.org/drawingml/2006/main">
              <a:ext uri="{FF2B5EF4-FFF2-40B4-BE49-F238E27FC236}">
                <a16:creationId xmlns:a16="http://schemas.microsoft.com/office/drawing/2014/main" id="{6FDFC546-49DB-467D-A497-A1E44D5AB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57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800" b="1">
                <a:solidFill>
                  <a:srgbClr val="8AFFAD"/>
                </a:solidFill>
              </a:defRPr>
            </a:pPr>
            <a:r>
              <a:rPr sz="4800" b="1">
                <a:solidFill>
                  <a:srgbClr val="8AFFAD"/>
                </a:solidFill>
              </a:rPr>
              <a:t>PRICE THE OUTCOME.</a:t>
            </a:r>
          </a:p>
        </p:txBody>
      </p:sp>
      <p:sp>
        <p:nvSpPr>
          <p:cNvPr id="5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6D7105F9-A44A-494C-8242-29F88FB8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81250"/>
            <a:ext cx="9810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4F1E8"/>
                </a:solidFill>
              </a:defRPr>
            </a:pPr>
            <a:r>
              <a:rPr sz="3000" b="1">
                <a:solidFill>
                  <a:srgbClr val="F4F1E8"/>
                </a:solidFill>
              </a:rPr>
              <a:t>MARKOUT turns LP protection from a prediction into a settlement.</a:t>
            </a:r>
          </a:p>
        </p:txBody>
      </p:sp>
      <p:sp>
        <p:nvSpPr>
          <p:cNvPr id="6" name="slide-9-rule">
            <a:extLst xmlns:a="http://schemas.openxmlformats.org/drawingml/2006/main">
              <a:ext uri="{FF2B5EF4-FFF2-40B4-BE49-F238E27FC236}">
                <a16:creationId xmlns:a16="http://schemas.microsoft.com/office/drawing/2014/main" id="{516F9F10-07F8-43E8-90D3-402B8EC0E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FFAD"/>
            </a:solidFill>
            <a:prstDash val="solid"/>
          </a:ln>
        </p:spPr>
      </p:sp>
      <p:sp>
        <p:nvSpPr>
          <p:cNvPr id="7" name="slide-9-proof">
            <a:extLst xmlns:a="http://schemas.openxmlformats.org/drawingml/2006/main">
              <a:ext uri="{FF2B5EF4-FFF2-40B4-BE49-F238E27FC236}">
                <a16:creationId xmlns:a16="http://schemas.microsoft.com/office/drawing/2014/main" id="{A9EDEDDD-85D7-45EA-81AE-CAFA367BE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33875"/>
            <a:ext cx="7429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9CA9B5"/>
                </a:solidFill>
              </a:defRPr>
            </a:pPr>
            <a:r>
              <a:rPr sz="1800">
                <a:solidFill>
                  <a:srgbClr val="9CA9B5"/>
                </a:solidFill>
              </a:rPr>
              <a:t>Public v4 trade settled through Circle in 38 seconds.</a:t>
            </a:r>
          </a:p>
          <a:p xmlns:a="http://schemas.openxmlformats.org/drawingml/2006/main">
            <a:pPr>
              <a:buNone/>
              <a:defRPr sz="1800">
                <a:solidFill>
                  <a:srgbClr val="9CA9B5"/>
                </a:solidFill>
              </a:defRPr>
            </a:pPr>
            <a:r>
              <a:rPr sz="1800">
                <a:solidFill>
                  <a:srgbClr val="9CA9B5"/>
                </a:solidFill>
              </a:rPr>
              <a:t>Pyth observation arrived with 46 seconds of age.</a:t>
            </a:r>
          </a:p>
          <a:p xmlns:a="http://schemas.openxmlformats.org/drawingml/2006/main">
            <a:pPr>
              <a:buNone/>
              <a:defRPr sz="1800">
                <a:solidFill>
                  <a:srgbClr val="9CA9B5"/>
                </a:solidFill>
              </a:defRPr>
            </a:pPr>
            <a:r>
              <a:rPr sz="1800">
                <a:solidFill>
                  <a:srgbClr val="9CA9B5"/>
                </a:solidFill>
              </a:rPr>
              <a:t>Negative markout returned 100% of the surcharge.</a:t>
            </a:r>
          </a:p>
        </p:txBody>
      </p:sp>
      <p:sp>
        <p:nvSpPr>
          <p:cNvPr id="8" name="slide-9-gate">
            <a:extLst xmlns:a="http://schemas.openxmlformats.org/drawingml/2006/main">
              <a:ext uri="{FF2B5EF4-FFF2-40B4-BE49-F238E27FC236}">
                <a16:creationId xmlns:a16="http://schemas.microsoft.com/office/drawing/2014/main" id="{A649709C-C6BF-4356-8BF8-304B91F4E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514850"/>
            <a:ext cx="3000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650" b="1">
                <a:solidFill>
                  <a:srgbClr val="8AFFAD"/>
                </a:solidFill>
              </a:defRPr>
            </a:pPr>
            <a:r>
              <a:rPr sz="1650" b="1">
                <a:solidFill>
                  <a:srgbClr val="8AFFAD"/>
                </a:solidFill>
              </a:rPr>
              <a:t>CIRCLE SETTLED · 38 SEC
100% REBATED</a:t>
            </a:r>
          </a:p>
        </p:txBody>
      </p:sp>
    </p:spTree>
    <p:extLst>
      <p:ext uri="{BB962C8B-B14F-4D97-AF65-F5344CB8AC3E}">
        <p14:creationId xmlns:p14="http://schemas.microsoft.com/office/powerpoint/2010/main" val="8046228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2026-08-21T10:35:49.5210000Z</dcterms:created>
  <dcterms:modified xsi:type="dcterms:W3CDTF">2026-08-21T10:35:49.5210000Z</dcterms:modified>
</coreProperties>
</file>